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0" r:id="rId4"/>
    <p:sldId id="274" r:id="rId5"/>
    <p:sldId id="270" r:id="rId6"/>
    <p:sldId id="275" r:id="rId7"/>
    <p:sldId id="258" r:id="rId8"/>
    <p:sldId id="276" r:id="rId9"/>
    <p:sldId id="261" r:id="rId10"/>
    <p:sldId id="277" r:id="rId11"/>
    <p:sldId id="283" r:id="rId12"/>
    <p:sldId id="268" r:id="rId13"/>
    <p:sldId id="271" r:id="rId14"/>
    <p:sldId id="278" r:id="rId15"/>
    <p:sldId id="272" r:id="rId16"/>
    <p:sldId id="273" r:id="rId17"/>
    <p:sldId id="279" r:id="rId18"/>
    <p:sldId id="257" r:id="rId19"/>
    <p:sldId id="282" r:id="rId20"/>
    <p:sldId id="263" r:id="rId21"/>
    <p:sldId id="262" r:id="rId22"/>
    <p:sldId id="264" r:id="rId23"/>
    <p:sldId id="266" r:id="rId24"/>
    <p:sldId id="265" r:id="rId25"/>
    <p:sldId id="286" r:id="rId26"/>
    <p:sldId id="287" r:id="rId27"/>
    <p:sldId id="285" r:id="rId2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08" y="3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 smtClean="0"/>
              <a:t>Modifiez le style des sous-titres du masque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80736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9741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59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885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9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711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31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492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1097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099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0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0292E-32D9-4D96-88A5-3BF61FD3F949}" type="datetimeFigureOut">
              <a:rPr lang="fr-FR" smtClean="0"/>
              <a:t>04/05/2016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DB22F-C336-4040-9990-086A711EA4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094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reactivemanifesto.org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stax.com/resources/webinars" TargetMode="External"/><Relationship Id="rId2" Type="http://schemas.openxmlformats.org/officeDocument/2006/relationships/hyperlink" Target="https://www.youtube.com/watch?v=uwYlwLyv-1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hyperlink" Target="http://zeromq.org/" TargetMode="External"/><Relationship Id="rId7" Type="http://schemas.openxmlformats.org/officeDocument/2006/relationships/image" Target="../media/image21.gif"/><Relationship Id="rId2" Type="http://schemas.openxmlformats.org/officeDocument/2006/relationships/hyperlink" Target="http://kafka.apache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hyperlink" Target="http://www.oracle.com/technetwork/java/jms/index.html" TargetMode="External"/><Relationship Id="rId4" Type="http://schemas.openxmlformats.org/officeDocument/2006/relationships/hyperlink" Target="https://github.com/zeromq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hyperlink" Target="https://github.com/reactor/reactor" TargetMode="External"/><Relationship Id="rId7" Type="http://schemas.openxmlformats.org/officeDocument/2006/relationships/hyperlink" Target="https://github.com/eclipse/vert.x" TargetMode="External"/><Relationship Id="rId2" Type="http://schemas.openxmlformats.org/officeDocument/2006/relationships/hyperlink" Target="http://projectreactor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vertx.io/" TargetMode="External"/><Relationship Id="rId5" Type="http://schemas.openxmlformats.org/officeDocument/2006/relationships/hyperlink" Target="https://github.com/akka/akka" TargetMode="External"/><Relationship Id="rId10" Type="http://schemas.openxmlformats.org/officeDocument/2006/relationships/image" Target="../media/image24.png"/><Relationship Id="rId4" Type="http://schemas.openxmlformats.org/officeDocument/2006/relationships/hyperlink" Target="http://akka.io/" TargetMode="External"/><Relationship Id="rId9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dEkQm2EDKg" TargetMode="External"/><Relationship Id="rId2" Type="http://schemas.openxmlformats.org/officeDocument/2006/relationships/hyperlink" Target="https://github.com/datastax/spark-cassandra-connecto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obert.github.io/post/2014-07-15-installing-cassandra-spark-stack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 smtClean="0"/>
              <a:t>Big</a:t>
            </a:r>
            <a:r>
              <a:rPr lang="fr-FR" dirty="0" smtClean="0"/>
              <a:t> Data and Machine Learning</a:t>
            </a:r>
            <a:br>
              <a:rPr lang="fr-FR" dirty="0" smtClean="0"/>
            </a:br>
            <a:r>
              <a:rPr lang="fr-FR" dirty="0" smtClean="0"/>
              <a:t>in 2016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The </a:t>
            </a:r>
            <a:r>
              <a:rPr lang="fr-FR" dirty="0" err="1" smtClean="0"/>
              <a:t>reactive</a:t>
            </a:r>
            <a:r>
              <a:rPr lang="fr-FR" dirty="0" smtClean="0"/>
              <a:t> </a:t>
            </a:r>
            <a:r>
              <a:rPr lang="fr-FR" dirty="0" err="1" smtClean="0"/>
              <a:t>paradigm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Reactive</a:t>
            </a:r>
            <a:r>
              <a:rPr lang="fr-FR" dirty="0" smtClean="0"/>
              <a:t> </a:t>
            </a:r>
            <a:r>
              <a:rPr lang="fr-FR" dirty="0" err="1" smtClean="0"/>
              <a:t>Streams</a:t>
            </a:r>
            <a:r>
              <a:rPr lang="fr-FR" dirty="0" smtClean="0"/>
              <a:t> and Lambda Architecture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618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64" y="4646141"/>
            <a:ext cx="1222669" cy="1161536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Big</a:t>
            </a:r>
            <a:r>
              <a:rPr lang="fr-FR" dirty="0" smtClean="0"/>
              <a:t> Data / Open Data / Machine </a:t>
            </a:r>
            <a:r>
              <a:rPr lang="fr-FR" dirty="0"/>
              <a:t>L</a:t>
            </a:r>
            <a:r>
              <a:rPr lang="fr-FR" dirty="0" smtClean="0"/>
              <a:t>earning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91264" y="1825625"/>
            <a:ext cx="9162535" cy="4351338"/>
          </a:xfrm>
        </p:spPr>
        <p:txBody>
          <a:bodyPr>
            <a:normAutofit fontScale="92500" lnSpcReduction="20000"/>
          </a:bodyPr>
          <a:lstStyle/>
          <a:p>
            <a:r>
              <a:rPr lang="fr-FR" dirty="0" err="1" smtClean="0"/>
              <a:t>Big</a:t>
            </a:r>
            <a:r>
              <a:rPr lang="fr-FR" dirty="0" smtClean="0"/>
              <a:t> Data </a:t>
            </a:r>
            <a:r>
              <a:rPr lang="fr-FR" dirty="0" smtClean="0">
                <a:sym typeface="Wingdings" panose="05000000000000000000" pitchFamily="2" charset="2"/>
              </a:rPr>
              <a:t> </a:t>
            </a:r>
            <a:r>
              <a:rPr lang="fr-FR" dirty="0" smtClean="0">
                <a:solidFill>
                  <a:schemeClr val="accent1"/>
                </a:solidFill>
                <a:sym typeface="Wingdings" panose="05000000000000000000" pitchFamily="2" charset="2"/>
              </a:rPr>
              <a:t>volume</a:t>
            </a:r>
            <a:r>
              <a:rPr lang="fr-FR" dirty="0" smtClean="0">
                <a:sym typeface="Wingdings" panose="05000000000000000000" pitchFamily="2" charset="2"/>
              </a:rPr>
              <a:t> des données</a:t>
            </a:r>
            <a:endParaRPr lang="fr-FR" dirty="0" smtClean="0"/>
          </a:p>
          <a:p>
            <a:pPr lvl="1"/>
            <a:r>
              <a:rPr lang="fr-FR" dirty="0" smtClean="0"/>
              <a:t>Tout ce qui est trop grand pour être traité par des systèmes traditionnels</a:t>
            </a:r>
            <a:br>
              <a:rPr lang="fr-FR" dirty="0" smtClean="0"/>
            </a:br>
            <a:r>
              <a:rPr lang="fr-FR" dirty="0" smtClean="0"/>
              <a:t>(quand ça ne tient pas en mémoire, ou dans un Oracle de plusieurs To)</a:t>
            </a:r>
          </a:p>
          <a:p>
            <a:pPr lvl="1"/>
            <a:r>
              <a:rPr lang="fr-FR" dirty="0" smtClean="0"/>
              <a:t>Sondages ? NON ! Même un recensement, ça tient dans un Excel !</a:t>
            </a:r>
          </a:p>
          <a:p>
            <a:endParaRPr lang="fr-FR" dirty="0" smtClean="0"/>
          </a:p>
          <a:p>
            <a:r>
              <a:rPr lang="fr-FR" dirty="0" smtClean="0"/>
              <a:t>Open Data </a:t>
            </a:r>
            <a:r>
              <a:rPr lang="fr-FR" dirty="0" smtClean="0">
                <a:sym typeface="Wingdings" panose="05000000000000000000" pitchFamily="2" charset="2"/>
              </a:rPr>
              <a:t> </a:t>
            </a:r>
            <a:r>
              <a:rPr lang="fr-FR" dirty="0" smtClean="0">
                <a:solidFill>
                  <a:schemeClr val="accent1"/>
                </a:solidFill>
                <a:sym typeface="Wingdings" panose="05000000000000000000" pitchFamily="2" charset="2"/>
              </a:rPr>
              <a:t>accès</a:t>
            </a:r>
            <a:r>
              <a:rPr lang="fr-FR" dirty="0" smtClean="0">
                <a:sym typeface="Wingdings" panose="05000000000000000000" pitchFamily="2" charset="2"/>
              </a:rPr>
              <a:t> aux données</a:t>
            </a:r>
          </a:p>
          <a:p>
            <a:pPr lvl="1"/>
            <a:r>
              <a:rPr lang="fr-FR" dirty="0" smtClean="0">
                <a:sym typeface="Wingdings" panose="05000000000000000000" pitchFamily="2" charset="2"/>
              </a:rPr>
              <a:t>Comme ça peut être downloadé, ce n’est pas du </a:t>
            </a:r>
            <a:r>
              <a:rPr lang="fr-FR" dirty="0" err="1">
                <a:sym typeface="Wingdings" panose="05000000000000000000" pitchFamily="2" charset="2"/>
              </a:rPr>
              <a:t>B</a:t>
            </a:r>
            <a:r>
              <a:rPr lang="fr-FR" dirty="0" err="1" smtClean="0">
                <a:sym typeface="Wingdings" panose="05000000000000000000" pitchFamily="2" charset="2"/>
              </a:rPr>
              <a:t>ig</a:t>
            </a:r>
            <a:r>
              <a:rPr lang="fr-FR" dirty="0" smtClean="0">
                <a:sym typeface="Wingdings" panose="05000000000000000000" pitchFamily="2" charset="2"/>
              </a:rPr>
              <a:t> Data…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Machine Learning </a:t>
            </a:r>
            <a:r>
              <a:rPr lang="fr-FR" dirty="0" smtClean="0">
                <a:sym typeface="Wingdings" panose="05000000000000000000" pitchFamily="2" charset="2"/>
              </a:rPr>
              <a:t> </a:t>
            </a:r>
            <a:r>
              <a:rPr lang="fr-FR" dirty="0" smtClean="0">
                <a:solidFill>
                  <a:schemeClr val="accent1"/>
                </a:solidFill>
                <a:sym typeface="Wingdings" panose="05000000000000000000" pitchFamily="2" charset="2"/>
              </a:rPr>
              <a:t>algorithme</a:t>
            </a:r>
            <a:r>
              <a:rPr lang="fr-FR" dirty="0" smtClean="0">
                <a:sym typeface="Wingdings" panose="05000000000000000000" pitchFamily="2" charset="2"/>
              </a:rPr>
              <a:t> de traitement des données</a:t>
            </a:r>
            <a:endParaRPr lang="fr-FR" dirty="0" smtClean="0"/>
          </a:p>
          <a:p>
            <a:pPr lvl="1"/>
            <a:r>
              <a:rPr lang="fr-FR" dirty="0" smtClean="0"/>
              <a:t>ex: obtention de prêt bancaire</a:t>
            </a:r>
          </a:p>
          <a:p>
            <a:pPr lvl="1"/>
            <a:r>
              <a:rPr lang="fr-FR" dirty="0" smtClean="0"/>
              <a:t>Avec des </a:t>
            </a:r>
            <a:r>
              <a:rPr lang="fr-FR" dirty="0"/>
              <a:t>S</a:t>
            </a:r>
            <a:r>
              <a:rPr lang="fr-FR" dirty="0" smtClean="0"/>
              <a:t>mall data, Excel ou Python sont suffisants !</a:t>
            </a:r>
          </a:p>
          <a:p>
            <a:pPr marL="457200" lvl="1" indent="0">
              <a:buNone/>
            </a:pPr>
            <a:r>
              <a:rPr lang="fr-FR" dirty="0" smtClean="0">
                <a:sym typeface="Wingdings" panose="05000000000000000000" pitchFamily="2" charset="2"/>
              </a:rPr>
              <a:t> 	On peut souvent réduire un jeu de données </a:t>
            </a:r>
            <a:r>
              <a:rPr lang="fr-FR" dirty="0" err="1" smtClean="0">
                <a:sym typeface="Wingdings" panose="05000000000000000000" pitchFamily="2" charset="2"/>
              </a:rPr>
              <a:t>Big</a:t>
            </a:r>
            <a:r>
              <a:rPr lang="fr-FR" dirty="0" smtClean="0">
                <a:sym typeface="Wingdings" panose="05000000000000000000" pitchFamily="2" charset="2"/>
              </a:rPr>
              <a:t> Data pour faire </a:t>
            </a:r>
            <a:br>
              <a:rPr lang="fr-FR" dirty="0" smtClean="0">
                <a:sym typeface="Wingdings" panose="05000000000000000000" pitchFamily="2" charset="2"/>
              </a:rPr>
            </a:br>
            <a:r>
              <a:rPr lang="fr-FR" dirty="0" smtClean="0">
                <a:sym typeface="Wingdings" panose="05000000000000000000" pitchFamily="2" charset="2"/>
              </a:rPr>
              <a:t>	du machine </a:t>
            </a:r>
            <a:r>
              <a:rPr lang="fr-FR" dirty="0" err="1" smtClean="0">
                <a:sym typeface="Wingdings" panose="05000000000000000000" pitchFamily="2" charset="2"/>
              </a:rPr>
              <a:t>learning</a:t>
            </a:r>
            <a:r>
              <a:rPr lang="fr-FR" dirty="0" smtClean="0">
                <a:sym typeface="Wingdings" panose="05000000000000000000" pitchFamily="2" charset="2"/>
              </a:rPr>
              <a:t> sur du Small Data</a:t>
            </a:r>
            <a:endParaRPr lang="fr-FR" dirty="0"/>
          </a:p>
        </p:txBody>
      </p:sp>
      <p:pic>
        <p:nvPicPr>
          <p:cNvPr id="1026" name="Picture 2" descr="Afficher l'image d'origin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165" y="1949216"/>
            <a:ext cx="1460278" cy="78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5" y="3111434"/>
            <a:ext cx="1516964" cy="1137723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0" y="607952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accent1"/>
                </a:solidFill>
                <a:sym typeface="Wingdings" panose="05000000000000000000" pitchFamily="2" charset="2"/>
              </a:rPr>
              <a:t>p</a:t>
            </a:r>
            <a:r>
              <a:rPr lang="fr-FR" sz="3200" b="1" dirty="0" smtClean="0">
                <a:solidFill>
                  <a:schemeClr val="accent1"/>
                </a:solidFill>
                <a:sym typeface="Wingdings" panose="05000000000000000000" pitchFamily="2" charset="2"/>
              </a:rPr>
              <a:t>as de </a:t>
            </a:r>
            <a:r>
              <a:rPr lang="fr-FR" sz="3200" b="1" dirty="0" err="1" smtClean="0">
                <a:solidFill>
                  <a:schemeClr val="accent1"/>
                </a:solidFill>
                <a:sym typeface="Wingdings" panose="05000000000000000000" pitchFamily="2" charset="2"/>
              </a:rPr>
              <a:t>Big</a:t>
            </a:r>
            <a:r>
              <a:rPr lang="fr-FR" sz="3200" b="1" dirty="0" smtClean="0">
                <a:solidFill>
                  <a:schemeClr val="accent1"/>
                </a:solidFill>
                <a:sym typeface="Wingdings" panose="05000000000000000000" pitchFamily="2" charset="2"/>
              </a:rPr>
              <a:t> Data, pas de problème !</a:t>
            </a:r>
            <a:endParaRPr lang="fr-FR" sz="3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459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Agenda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Trends</a:t>
            </a:r>
          </a:p>
          <a:p>
            <a:pPr marL="914400" lvl="1" indent="-457200">
              <a:buAutoNum type="arabicPlain"/>
            </a:pP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Big</a:t>
            </a:r>
            <a:r>
              <a:rPr lang="fr-FR" dirty="0" smtClean="0"/>
              <a:t> Data to </a:t>
            </a:r>
            <a:r>
              <a:rPr lang="fr-FR" dirty="0" err="1" smtClean="0"/>
              <a:t>Fast</a:t>
            </a:r>
            <a:r>
              <a:rPr lang="fr-FR" dirty="0" smtClean="0"/>
              <a:t> Data</a:t>
            </a:r>
          </a:p>
          <a:p>
            <a:pPr marL="914400" lvl="1" indent="-457200">
              <a:buAutoNum type="arabicPlain"/>
            </a:pPr>
            <a:r>
              <a:rPr lang="fr-FR" dirty="0" err="1" smtClean="0"/>
              <a:t>Reactive</a:t>
            </a:r>
            <a:r>
              <a:rPr lang="fr-FR" dirty="0" smtClean="0"/>
              <a:t> architecture</a:t>
            </a:r>
          </a:p>
          <a:p>
            <a:pPr marL="914400" lvl="1" indent="-457200">
              <a:buAutoNum type="arabicPlain"/>
            </a:pPr>
            <a:r>
              <a:rPr lang="fr-FR" dirty="0" err="1" smtClean="0"/>
              <a:t>Reactive</a:t>
            </a:r>
            <a:r>
              <a:rPr lang="fr-FR" dirty="0" smtClean="0"/>
              <a:t> </a:t>
            </a:r>
            <a:r>
              <a:rPr lang="fr-FR" dirty="0" err="1" smtClean="0"/>
              <a:t>streams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Architecture and technologies</a:t>
            </a:r>
          </a:p>
          <a:p>
            <a:pPr marL="914400" lvl="1" indent="-457200">
              <a:buAutoNum type="arabicPlain"/>
            </a:pPr>
            <a:r>
              <a:rPr lang="fr-FR" dirty="0" smtClean="0"/>
              <a:t>The SMACK architecture</a:t>
            </a:r>
          </a:p>
          <a:p>
            <a:pPr marL="914400" lvl="1" indent="-457200">
              <a:buAutoNum type="arabicPlain"/>
            </a:pPr>
            <a:r>
              <a:rPr lang="fr-FR" dirty="0" smtClean="0"/>
              <a:t>Something more </a:t>
            </a:r>
            <a:r>
              <a:rPr lang="fr-FR" dirty="0" err="1" smtClean="0"/>
              <a:t>complex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430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Trend 1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big data to fast data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535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Big</a:t>
            </a:r>
            <a:r>
              <a:rPr lang="fr-FR" dirty="0" smtClean="0"/>
              <a:t> Data, slow </a:t>
            </a:r>
            <a:r>
              <a:rPr lang="fr-FR" dirty="0" err="1" smtClean="0"/>
              <a:t>response</a:t>
            </a:r>
            <a:r>
              <a:rPr lang="fr-FR" dirty="0" smtClean="0"/>
              <a:t> time</a:t>
            </a:r>
            <a:endParaRPr lang="fr-FR" dirty="0"/>
          </a:p>
        </p:txBody>
      </p:sp>
      <p:pic>
        <p:nvPicPr>
          <p:cNvPr id="1026" name="Picture 2" descr="http://www.onemore.com.hk/images/services/servercolocat/banner_pi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4407" y="1997868"/>
            <a:ext cx="2923185" cy="2006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lèche droite 4"/>
          <p:cNvSpPr/>
          <p:nvPr/>
        </p:nvSpPr>
        <p:spPr>
          <a:xfrm>
            <a:off x="7557591" y="2718033"/>
            <a:ext cx="2034083" cy="4781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7628151" y="2766920"/>
            <a:ext cx="1721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Offline batch</a:t>
            </a:r>
          </a:p>
          <a:p>
            <a:pPr algn="ctr"/>
            <a:r>
              <a:rPr lang="fr-FR" dirty="0" smtClean="0"/>
              <a:t>Ex: </a:t>
            </a:r>
            <a:r>
              <a:rPr lang="fr-FR" dirty="0" err="1" smtClean="0"/>
              <a:t>Map</a:t>
            </a:r>
            <a:r>
              <a:rPr lang="fr-FR" dirty="0" smtClean="0"/>
              <a:t>/</a:t>
            </a:r>
            <a:r>
              <a:rPr lang="fr-FR" dirty="0" err="1" smtClean="0"/>
              <a:t>Reduce</a:t>
            </a:r>
            <a:endParaRPr lang="fr-FR" dirty="0" smtClean="0"/>
          </a:p>
          <a:p>
            <a:pPr algn="ctr"/>
            <a:r>
              <a:rPr lang="fr-FR" dirty="0" smtClean="0"/>
              <a:t>(</a:t>
            </a:r>
            <a:r>
              <a:rPr lang="fr-FR" dirty="0" err="1" smtClean="0"/>
              <a:t>Hive</a:t>
            </a:r>
            <a:r>
              <a:rPr lang="fr-FR" dirty="0" smtClean="0"/>
              <a:t>/</a:t>
            </a:r>
            <a:r>
              <a:rPr lang="fr-FR" dirty="0" err="1" smtClean="0"/>
              <a:t>Pig</a:t>
            </a:r>
            <a:r>
              <a:rPr lang="fr-FR" dirty="0" smtClean="0"/>
              <a:t>/…)</a:t>
            </a:r>
            <a:endParaRPr lang="fr-FR" dirty="0"/>
          </a:p>
        </p:txBody>
      </p:sp>
      <p:pic>
        <p:nvPicPr>
          <p:cNvPr id="10" name="Image 9" descr="Capture d’écra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991" y="1868638"/>
            <a:ext cx="628434" cy="903815"/>
          </a:xfrm>
          <a:prstGeom prst="rect">
            <a:avLst/>
          </a:prstGeom>
        </p:spPr>
      </p:pic>
      <p:sp>
        <p:nvSpPr>
          <p:cNvPr id="11" name="Carré corné 10"/>
          <p:cNvSpPr/>
          <p:nvPr/>
        </p:nvSpPr>
        <p:spPr>
          <a:xfrm rot="10800000" flipH="1">
            <a:off x="9710430" y="2174791"/>
            <a:ext cx="939567" cy="1564655"/>
          </a:xfrm>
          <a:prstGeom prst="foldedCorne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9710429" y="2772453"/>
            <a:ext cx="93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report</a:t>
            </a:r>
            <a:endParaRPr lang="fr-FR" dirty="0"/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831730" y="2449585"/>
            <a:ext cx="17188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>
            <a:off x="2831730" y="2587724"/>
            <a:ext cx="17188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>
            <a:off x="2831730" y="2725863"/>
            <a:ext cx="17188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>
            <a:off x="2831730" y="2864002"/>
            <a:ext cx="17188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>
            <a:off x="2831730" y="3002141"/>
            <a:ext cx="17188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>
            <a:off x="2831730" y="3140278"/>
            <a:ext cx="17188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1608818" y="2533367"/>
            <a:ext cx="1104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smtClean="0"/>
              <a:t>injecteurs</a:t>
            </a:r>
            <a:endParaRPr lang="fr-FR" dirty="0"/>
          </a:p>
        </p:txBody>
      </p:sp>
      <p:sp>
        <p:nvSpPr>
          <p:cNvPr id="28" name="Espace réservé du contenu 2"/>
          <p:cNvSpPr>
            <a:spLocks noGrp="1"/>
          </p:cNvSpPr>
          <p:nvPr>
            <p:ph idx="1"/>
          </p:nvPr>
        </p:nvSpPr>
        <p:spPr>
          <a:xfrm>
            <a:off x="838200" y="4469768"/>
            <a:ext cx="10515600" cy="1678619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Tailored for</a:t>
            </a:r>
          </a:p>
          <a:p>
            <a:pPr lvl="1"/>
            <a:r>
              <a:rPr lang="en-US" dirty="0" smtClean="0"/>
              <a:t>Offline batch (one shot analysis)</a:t>
            </a:r>
          </a:p>
          <a:p>
            <a:pPr lvl="1"/>
            <a:r>
              <a:rPr lang="en-US" dirty="0" smtClean="0"/>
              <a:t>tout </a:t>
            </a:r>
            <a:r>
              <a:rPr lang="en-US" dirty="0" err="1" smtClean="0"/>
              <a:t>ce</a:t>
            </a:r>
            <a:r>
              <a:rPr lang="en-US" dirty="0" smtClean="0"/>
              <a:t> qui </a:t>
            </a:r>
            <a:r>
              <a:rPr lang="en-US" dirty="0" err="1" smtClean="0"/>
              <a:t>peut</a:t>
            </a:r>
            <a:r>
              <a:rPr lang="en-US" dirty="0" smtClean="0"/>
              <a:t> </a:t>
            </a:r>
            <a:r>
              <a:rPr lang="en-US" dirty="0" err="1" smtClean="0"/>
              <a:t>être</a:t>
            </a:r>
            <a:r>
              <a:rPr lang="en-US" dirty="0" smtClean="0"/>
              <a:t> </a:t>
            </a:r>
            <a:r>
              <a:rPr lang="en-US" dirty="0" err="1" smtClean="0"/>
              <a:t>pré</a:t>
            </a:r>
            <a:r>
              <a:rPr lang="en-US" dirty="0" smtClean="0"/>
              <a:t> </a:t>
            </a:r>
            <a:r>
              <a:rPr lang="en-US" dirty="0" err="1" smtClean="0"/>
              <a:t>calculé</a:t>
            </a:r>
            <a:endParaRPr lang="en-US" dirty="0" smtClean="0"/>
          </a:p>
          <a:p>
            <a:endParaRPr lang="fr-FR" dirty="0"/>
          </a:p>
          <a:p>
            <a:r>
              <a:rPr lang="fr-FR" dirty="0"/>
              <a:t>Non adapté pour le « temps réel </a:t>
            </a:r>
            <a:r>
              <a:rPr lang="fr-FR" dirty="0" smtClean="0"/>
              <a:t>»</a:t>
            </a:r>
          </a:p>
          <a:p>
            <a:pPr lvl="1"/>
            <a:r>
              <a:rPr lang="fr-FR" dirty="0" smtClean="0"/>
              <a:t>(sans YARN et </a:t>
            </a:r>
            <a:r>
              <a:rPr lang="fr-FR" dirty="0" err="1" smtClean="0"/>
              <a:t>Tez</a:t>
            </a:r>
            <a:r>
              <a:rPr lang="fr-FR" dirty="0" smtClean="0"/>
              <a:t>…)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5038725" y="3551289"/>
            <a:ext cx="138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Cluster HDFS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001" y="2495629"/>
            <a:ext cx="2153753" cy="5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need</a:t>
            </a:r>
            <a:r>
              <a:rPr lang="fr-FR" dirty="0" smtClean="0"/>
              <a:t>…</a:t>
            </a:r>
            <a:endParaRPr lang="fr-FR" dirty="0"/>
          </a:p>
        </p:txBody>
      </p:sp>
      <p:pic>
        <p:nvPicPr>
          <p:cNvPr id="4" name="Image 3" descr="Capture d’écran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83"/>
          <a:stretch/>
        </p:blipFill>
        <p:spPr>
          <a:xfrm>
            <a:off x="942117" y="1782791"/>
            <a:ext cx="10030682" cy="442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0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Lambda architecture </a:t>
            </a:r>
            <a:r>
              <a:rPr lang="fr-FR" dirty="0"/>
              <a:t>b</a:t>
            </a:r>
            <a:r>
              <a:rPr lang="fr-FR" dirty="0" smtClean="0"/>
              <a:t>y Nathan </a:t>
            </a:r>
            <a:r>
              <a:rPr lang="fr-FR" dirty="0" err="1" smtClean="0"/>
              <a:t>Marz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1" y="2166475"/>
            <a:ext cx="6139542" cy="3499539"/>
          </a:xfrm>
          <a:prstGeom prst="rect">
            <a:avLst/>
          </a:prstGeom>
        </p:spPr>
      </p:pic>
      <p:pic>
        <p:nvPicPr>
          <p:cNvPr id="5" name="Picture 2" descr="Big Data book cov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084" y="4661766"/>
            <a:ext cx="1611092" cy="2008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5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Trend 2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Reactive architecture</a:t>
            </a:r>
            <a:endParaRPr lang="fr-FR" dirty="0"/>
          </a:p>
        </p:txBody>
      </p:sp>
      <p:pic>
        <p:nvPicPr>
          <p:cNvPr id="4" name="Picture 4" descr="http://d379ifj7s9wntv.cloudfront.net/reactivemanifesto/images/ribbons/we-are-reactive-black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829925" y="0"/>
            <a:ext cx="136207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84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53650" y="971550"/>
            <a:ext cx="1019175" cy="619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100" name="Picture 4" descr="http://d379ifj7s9wntv.cloudfront.net/reactivemanifesto/images/ribbons/we-are-reactive-black-lef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829925" y="0"/>
            <a:ext cx="136207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 descr="Capture d’écra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426" y="4118109"/>
            <a:ext cx="5025280" cy="2252529"/>
          </a:xfrm>
          <a:prstGeom prst="rect">
            <a:avLst/>
          </a:prstGeom>
        </p:spPr>
      </p:pic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16100"/>
            <a:ext cx="10515600" cy="4351338"/>
          </a:xfrm>
        </p:spPr>
        <p:txBody>
          <a:bodyPr>
            <a:normAutofit/>
          </a:bodyPr>
          <a:lstStyle/>
          <a:p>
            <a:r>
              <a:rPr lang="fr-FR" dirty="0" smtClean="0"/>
              <a:t>responsive: dans tous les cas</a:t>
            </a:r>
          </a:p>
          <a:p>
            <a:endParaRPr lang="fr-FR" dirty="0" smtClean="0"/>
          </a:p>
          <a:p>
            <a:r>
              <a:rPr lang="fr-FR" dirty="0" smtClean="0"/>
              <a:t>résilient / </a:t>
            </a:r>
            <a:r>
              <a:rPr lang="fr-FR" dirty="0" err="1" smtClean="0"/>
              <a:t>fault</a:t>
            </a:r>
            <a:r>
              <a:rPr lang="fr-FR" dirty="0" smtClean="0"/>
              <a:t> </a:t>
            </a:r>
            <a:r>
              <a:rPr lang="fr-FR" dirty="0" err="1" smtClean="0"/>
              <a:t>tolerant</a:t>
            </a:r>
            <a:r>
              <a:rPr lang="fr-FR" dirty="0" smtClean="0"/>
              <a:t> ("let </a:t>
            </a:r>
            <a:r>
              <a:rPr lang="fr-FR" dirty="0" err="1" smtClean="0"/>
              <a:t>it</a:t>
            </a:r>
            <a:r>
              <a:rPr lang="fr-FR" dirty="0" smtClean="0"/>
              <a:t> crash" ) </a:t>
            </a:r>
            <a:r>
              <a:rPr lang="fr-FR" dirty="0" err="1" smtClean="0"/>
              <a:t>recovery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err="1" smtClean="0"/>
              <a:t>elastic</a:t>
            </a:r>
            <a:r>
              <a:rPr lang="fr-FR" dirty="0" smtClean="0"/>
              <a:t> (</a:t>
            </a:r>
            <a:r>
              <a:rPr lang="fr-FR" dirty="0" err="1" smtClean="0"/>
              <a:t>scale</a:t>
            </a:r>
            <a:r>
              <a:rPr lang="fr-FR" dirty="0" smtClean="0"/>
              <a:t> up / </a:t>
            </a:r>
            <a:r>
              <a:rPr lang="fr-FR" dirty="0" err="1" smtClean="0"/>
              <a:t>scale</a:t>
            </a:r>
            <a:r>
              <a:rPr lang="fr-FR" dirty="0" smtClean="0"/>
              <a:t> out) au niveau VM</a:t>
            </a:r>
          </a:p>
          <a:p>
            <a:endParaRPr lang="fr-FR" dirty="0" smtClean="0"/>
          </a:p>
          <a:p>
            <a:r>
              <a:rPr lang="fr-FR" dirty="0"/>
              <a:t>m</a:t>
            </a:r>
            <a:r>
              <a:rPr lang="fr-FR" dirty="0" smtClean="0"/>
              <a:t>essage </a:t>
            </a:r>
            <a:r>
              <a:rPr lang="fr-FR" dirty="0" err="1" smtClean="0"/>
              <a:t>driven</a:t>
            </a:r>
            <a:endParaRPr lang="fr-FR" dirty="0" smtClean="0"/>
          </a:p>
          <a:p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Reactive</a:t>
            </a:r>
            <a:r>
              <a:rPr lang="fr-FR" dirty="0"/>
              <a:t> (</a:t>
            </a:r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reactive</a:t>
            </a:r>
            <a:r>
              <a:rPr lang="fr-FR" dirty="0"/>
              <a:t> </a:t>
            </a:r>
            <a:r>
              <a:rPr lang="fr-FR" dirty="0" err="1"/>
              <a:t>manifesto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838200" y="6194941"/>
            <a:ext cx="37658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>
                <a:hlinkClick r:id="rId4"/>
              </a:rPr>
              <a:t>http://</a:t>
            </a:r>
            <a:r>
              <a:rPr lang="fr-FR" sz="2000" dirty="0" smtClean="0">
                <a:hlinkClick r:id="rId4"/>
              </a:rPr>
              <a:t>www.reactivemanifesto.org</a:t>
            </a:r>
            <a:endParaRPr lang="fr-FR" sz="2000" dirty="0" smtClean="0"/>
          </a:p>
        </p:txBody>
      </p:sp>
    </p:spTree>
    <p:extLst>
      <p:ext uri="{BB962C8B-B14F-4D97-AF65-F5344CB8AC3E}">
        <p14:creationId xmlns:p14="http://schemas.microsoft.com/office/powerpoint/2010/main" val="265652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Trend 3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Reactive streams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221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Motivation for building a data pipeline</a:t>
            </a:r>
            <a:endParaRPr lang="fr-FR" dirty="0"/>
          </a:p>
        </p:txBody>
      </p:sp>
      <p:sp>
        <p:nvSpPr>
          <p:cNvPr id="3" name="Ellipse 2"/>
          <p:cNvSpPr/>
          <p:nvPr/>
        </p:nvSpPr>
        <p:spPr>
          <a:xfrm>
            <a:off x="2256817" y="1574633"/>
            <a:ext cx="1274324" cy="127432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/>
          <p:cNvSpPr/>
          <p:nvPr/>
        </p:nvSpPr>
        <p:spPr>
          <a:xfrm>
            <a:off x="2409217" y="1727033"/>
            <a:ext cx="1274324" cy="127432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2561617" y="1879433"/>
            <a:ext cx="1274324" cy="127432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2714017" y="2031833"/>
            <a:ext cx="1274324" cy="127432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2866417" y="2184233"/>
            <a:ext cx="1274324" cy="127432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7410856" y="1805905"/>
            <a:ext cx="1274324" cy="12743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7563256" y="1958305"/>
            <a:ext cx="1274324" cy="1274324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5557736" y="4655678"/>
            <a:ext cx="1274324" cy="127432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/>
          <p:cNvSpPr/>
          <p:nvPr/>
        </p:nvSpPr>
        <p:spPr>
          <a:xfrm>
            <a:off x="5710136" y="4808078"/>
            <a:ext cx="1274324" cy="127432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/>
          <p:cNvSpPr/>
          <p:nvPr/>
        </p:nvSpPr>
        <p:spPr>
          <a:xfrm>
            <a:off x="5862536" y="4960478"/>
            <a:ext cx="1274324" cy="127432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/>
          <p:cNvSpPr/>
          <p:nvPr/>
        </p:nvSpPr>
        <p:spPr>
          <a:xfrm>
            <a:off x="6014936" y="5112878"/>
            <a:ext cx="1274324" cy="127432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Cylindre 18"/>
          <p:cNvSpPr/>
          <p:nvPr/>
        </p:nvSpPr>
        <p:spPr>
          <a:xfrm rot="5400000">
            <a:off x="5537318" y="962449"/>
            <a:ext cx="416010" cy="2997082"/>
          </a:xfrm>
          <a:prstGeom prst="ca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ylindre 19"/>
          <p:cNvSpPr/>
          <p:nvPr/>
        </p:nvSpPr>
        <p:spPr>
          <a:xfrm rot="8026831">
            <a:off x="4619708" y="3026876"/>
            <a:ext cx="416010" cy="2131571"/>
          </a:xfrm>
          <a:prstGeom prst="ca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Cylindre 20"/>
          <p:cNvSpPr/>
          <p:nvPr/>
        </p:nvSpPr>
        <p:spPr>
          <a:xfrm rot="1791480">
            <a:off x="7105578" y="3070782"/>
            <a:ext cx="416010" cy="1870566"/>
          </a:xfrm>
          <a:prstGeom prst="ca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4914772" y="2967335"/>
            <a:ext cx="219128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 smtClean="0">
                <a:solidFill>
                  <a:schemeClr val="accent5"/>
                </a:solidFill>
              </a:rPr>
              <a:t>Communication</a:t>
            </a:r>
            <a:endParaRPr lang="fr-FR" sz="2000" b="1" dirty="0" smtClean="0">
              <a:solidFill>
                <a:schemeClr val="accent5"/>
              </a:solidFill>
            </a:endParaRPr>
          </a:p>
          <a:p>
            <a:pPr algn="ctr"/>
            <a:r>
              <a:rPr lang="fr-FR" sz="2000" dirty="0" smtClean="0"/>
              <a:t>Standardisée</a:t>
            </a:r>
          </a:p>
          <a:p>
            <a:pPr algn="ctr"/>
            <a:r>
              <a:rPr lang="fr-FR" sz="2000" dirty="0" smtClean="0"/>
              <a:t>Réactive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74820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Reactive</a:t>
            </a:r>
            <a:r>
              <a:rPr lang="fr-FR" dirty="0" smtClean="0"/>
              <a:t> </a:t>
            </a:r>
            <a:r>
              <a:rPr lang="fr-FR" dirty="0" err="1"/>
              <a:t>S</a:t>
            </a:r>
            <a:r>
              <a:rPr lang="fr-FR" dirty="0" err="1" smtClean="0"/>
              <a:t>treams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4748213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fr-FR" dirty="0" smtClean="0"/>
              <a:t>Notion de </a:t>
            </a:r>
            <a:r>
              <a:rPr lang="fr-FR" dirty="0" err="1" smtClean="0"/>
              <a:t>stream</a:t>
            </a:r>
            <a:r>
              <a:rPr lang="fr-FR" dirty="0" smtClean="0"/>
              <a:t> (dans le cadre général)</a:t>
            </a:r>
          </a:p>
          <a:p>
            <a:pPr marL="228600" lvl="1">
              <a:spcBef>
                <a:spcPts val="1000"/>
              </a:spcBef>
            </a:pPr>
            <a:endParaRPr lang="fr-FR" dirty="0"/>
          </a:p>
          <a:p>
            <a:pPr marL="228600" lvl="1">
              <a:spcBef>
                <a:spcPts val="1000"/>
              </a:spcBef>
            </a:pPr>
            <a:endParaRPr lang="fr-FR" dirty="0" smtClean="0"/>
          </a:p>
          <a:p>
            <a:pPr marL="228600" lvl="1">
              <a:spcBef>
                <a:spcPts val="1000"/>
              </a:spcBef>
            </a:pPr>
            <a:endParaRPr lang="fr-FR" dirty="0" smtClean="0"/>
          </a:p>
          <a:p>
            <a:pPr marL="228600" lvl="1">
              <a:spcBef>
                <a:spcPts val="1000"/>
              </a:spcBef>
            </a:pPr>
            <a:endParaRPr lang="fr-FR" dirty="0" smtClean="0"/>
          </a:p>
          <a:p>
            <a:pPr marL="228600" lvl="1">
              <a:spcBef>
                <a:spcPts val="1000"/>
              </a:spcBef>
            </a:pPr>
            <a:r>
              <a:rPr lang="fr-FR" dirty="0" smtClean="0"/>
              <a:t>Apport spécifique des </a:t>
            </a:r>
            <a:r>
              <a:rPr lang="fr-FR" i="1" dirty="0" err="1" smtClean="0"/>
              <a:t>Reactive</a:t>
            </a:r>
            <a:r>
              <a:rPr lang="fr-FR" i="1" dirty="0" smtClean="0"/>
              <a:t> Stream</a:t>
            </a:r>
            <a:r>
              <a:rPr lang="fr-FR" dirty="0" smtClean="0"/>
              <a:t> (PAS Java 8)</a:t>
            </a:r>
          </a:p>
          <a:p>
            <a:pPr marL="685800" lvl="2">
              <a:spcBef>
                <a:spcPts val="1000"/>
              </a:spcBef>
            </a:pPr>
            <a:r>
              <a:rPr lang="fr-FR" dirty="0" smtClean="0"/>
              <a:t>Asynchrone </a:t>
            </a:r>
            <a:r>
              <a:rPr lang="fr-FR" dirty="0"/>
              <a:t>(à tous les niveaux: applications, nœuds, CPU, threads, acteurs…)</a:t>
            </a:r>
          </a:p>
          <a:p>
            <a:pPr lvl="1"/>
            <a:r>
              <a:rPr lang="fr-FR" sz="2000" dirty="0"/>
              <a:t>Non </a:t>
            </a:r>
            <a:r>
              <a:rPr lang="fr-FR" sz="2000" dirty="0" err="1"/>
              <a:t>blocking</a:t>
            </a:r>
            <a:endParaRPr lang="fr-FR" sz="2000" dirty="0"/>
          </a:p>
          <a:p>
            <a:pPr lvl="1"/>
            <a:r>
              <a:rPr lang="fr-FR" sz="2000" dirty="0"/>
              <a:t>Back pressure</a:t>
            </a:r>
          </a:p>
          <a:p>
            <a:pPr lvl="2"/>
            <a:r>
              <a:rPr lang="fr-FR" sz="1600" dirty="0"/>
              <a:t>Régulation du flux, basée sur ce que le destinataire peut absorber</a:t>
            </a:r>
          </a:p>
          <a:p>
            <a:pPr lvl="2"/>
            <a:r>
              <a:rPr lang="fr-FR" sz="1600" dirty="0" smtClean="0"/>
              <a:t>Tout asynchrone</a:t>
            </a:r>
          </a:p>
          <a:p>
            <a:pPr lvl="2"/>
            <a:r>
              <a:rPr lang="fr-FR" sz="1600" dirty="0" smtClean="0"/>
              <a:t>Comme </a:t>
            </a:r>
            <a:r>
              <a:rPr lang="fr-FR" sz="1600" dirty="0"/>
              <a:t>avec les </a:t>
            </a:r>
            <a:r>
              <a:rPr lang="fr-FR" sz="1600" dirty="0" smtClean="0"/>
              <a:t>fenêtres </a:t>
            </a:r>
            <a:r>
              <a:rPr lang="fr-FR" sz="1600" dirty="0"/>
              <a:t>TCP</a:t>
            </a:r>
            <a:r>
              <a:rPr lang="fr-FR" sz="1600" dirty="0" smtClean="0"/>
              <a:t>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2581100" y="1901973"/>
            <a:ext cx="3053593" cy="153917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Stream (ex: Java 8)</a:t>
            </a:r>
          </a:p>
          <a:p>
            <a:pPr algn="ctr"/>
            <a:endParaRPr lang="fr-FR" b="1" dirty="0" smtClean="0"/>
          </a:p>
          <a:p>
            <a:pPr algn="ctr"/>
            <a:r>
              <a:rPr lang="fr-FR" dirty="0" smtClean="0"/>
              <a:t>Possiblement infini</a:t>
            </a:r>
          </a:p>
          <a:p>
            <a:pPr algn="ctr"/>
            <a:r>
              <a:rPr lang="fr-FR" dirty="0" smtClean="0"/>
              <a:t>Focus sur la consommation</a:t>
            </a:r>
          </a:p>
          <a:p>
            <a:pPr algn="ctr"/>
            <a:r>
              <a:rPr lang="fr-FR" dirty="0" smtClean="0"/>
              <a:t>« Read and </a:t>
            </a:r>
            <a:r>
              <a:rPr lang="fr-FR" dirty="0" err="1" smtClean="0"/>
              <a:t>forget</a:t>
            </a:r>
            <a:r>
              <a:rPr lang="fr-FR" dirty="0" smtClean="0"/>
              <a:t> »</a:t>
            </a:r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8068199" y="1901972"/>
            <a:ext cx="3053593" cy="153917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Collection</a:t>
            </a:r>
          </a:p>
          <a:p>
            <a:pPr algn="ctr"/>
            <a:endParaRPr lang="fr-FR" b="1" dirty="0" smtClean="0"/>
          </a:p>
          <a:p>
            <a:pPr algn="ctr"/>
            <a:r>
              <a:rPr lang="fr-FR" dirty="0" smtClean="0"/>
              <a:t>Finie</a:t>
            </a:r>
          </a:p>
          <a:p>
            <a:pPr algn="ctr"/>
            <a:r>
              <a:rPr lang="fr-FR" dirty="0" smtClean="0"/>
              <a:t>Focus sur le stockage</a:t>
            </a:r>
          </a:p>
          <a:p>
            <a:pPr algn="ctr"/>
            <a:r>
              <a:rPr lang="fr-FR" dirty="0" err="1" smtClean="0"/>
              <a:t>Many</a:t>
            </a:r>
            <a:r>
              <a:rPr lang="fr-FR" dirty="0" smtClean="0"/>
              <a:t> </a:t>
            </a:r>
            <a:r>
              <a:rPr lang="fr-FR" dirty="0" err="1" smtClean="0"/>
              <a:t>reads</a:t>
            </a:r>
            <a:r>
              <a:rPr lang="fr-FR" dirty="0" smtClean="0"/>
              <a:t>, update,…</a:t>
            </a:r>
            <a:endParaRPr lang="fr-FR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5777306" y="2426694"/>
            <a:ext cx="21482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>
            <a:off x="5777306" y="3015855"/>
            <a:ext cx="214828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5634692" y="2053475"/>
            <a:ext cx="2433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Streamer une collection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5634691" y="2646523"/>
            <a:ext cx="2433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Observer et enregistrer</a:t>
            </a:r>
            <a:endParaRPr lang="fr-FR" dirty="0"/>
          </a:p>
        </p:txBody>
      </p:sp>
      <p:sp>
        <p:nvSpPr>
          <p:cNvPr id="23" name="Arrondir un rectangle à un seul coin 22"/>
          <p:cNvSpPr/>
          <p:nvPr/>
        </p:nvSpPr>
        <p:spPr>
          <a:xfrm flipH="1">
            <a:off x="8686799" y="4810125"/>
            <a:ext cx="3505198" cy="2047875"/>
          </a:xfrm>
          <a:prstGeom prst="round1Rect">
            <a:avLst>
              <a:gd name="adj" fmla="val 219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Spec</a:t>
            </a:r>
            <a:r>
              <a:rPr lang="fr-FR" dirty="0" smtClean="0"/>
              <a:t> </a:t>
            </a:r>
            <a:r>
              <a:rPr lang="fr-FR" dirty="0" err="1" smtClean="0"/>
              <a:t>available</a:t>
            </a:r>
            <a:r>
              <a:rPr lang="fr-FR" dirty="0" smtClean="0"/>
              <a:t> !</a:t>
            </a:r>
          </a:p>
          <a:p>
            <a:pPr algn="ctr"/>
            <a:endParaRPr lang="fr-FR" dirty="0"/>
          </a:p>
          <a:p>
            <a:pPr algn="ctr"/>
            <a:r>
              <a:rPr lang="fr-FR" dirty="0" err="1" smtClean="0"/>
              <a:t>Implem</a:t>
            </a:r>
            <a:r>
              <a:rPr lang="fr-FR" dirty="0" smtClean="0"/>
              <a:t> : </a:t>
            </a:r>
            <a:r>
              <a:rPr lang="fr-FR" dirty="0" err="1" smtClean="0"/>
              <a:t>Akka</a:t>
            </a:r>
            <a:r>
              <a:rPr lang="fr-FR" dirty="0" smtClean="0"/>
              <a:t> </a:t>
            </a:r>
            <a:r>
              <a:rPr lang="fr-FR" dirty="0" err="1" smtClean="0"/>
              <a:t>Streams</a:t>
            </a:r>
            <a:r>
              <a:rPr lang="fr-FR" dirty="0" smtClean="0"/>
              <a:t>, </a:t>
            </a:r>
            <a:r>
              <a:rPr lang="fr-FR" dirty="0" err="1" smtClean="0"/>
              <a:t>MongoDB</a:t>
            </a:r>
            <a:r>
              <a:rPr lang="fr-FR" dirty="0" smtClean="0"/>
              <a:t>, </a:t>
            </a:r>
            <a:r>
              <a:rPr lang="fr-FR" dirty="0" err="1" smtClean="0"/>
              <a:t>Ratpack</a:t>
            </a:r>
            <a:r>
              <a:rPr lang="fr-FR" dirty="0" smtClean="0"/>
              <a:t>, </a:t>
            </a:r>
            <a:r>
              <a:rPr lang="fr-FR" dirty="0" err="1" smtClean="0"/>
              <a:t>Spring</a:t>
            </a:r>
            <a:r>
              <a:rPr lang="fr-FR" dirty="0" smtClean="0"/>
              <a:t> </a:t>
            </a:r>
            <a:r>
              <a:rPr lang="fr-FR" dirty="0"/>
              <a:t>and </a:t>
            </a:r>
            <a:r>
              <a:rPr lang="fr-FR" dirty="0" err="1"/>
              <a:t>Pivotal</a:t>
            </a:r>
            <a:r>
              <a:rPr lang="fr-FR" dirty="0"/>
              <a:t> </a:t>
            </a:r>
            <a:r>
              <a:rPr lang="fr-FR" dirty="0" err="1" smtClean="0"/>
              <a:t>project</a:t>
            </a:r>
            <a:r>
              <a:rPr lang="fr-FR" dirty="0" smtClean="0"/>
              <a:t> </a:t>
            </a:r>
            <a:r>
              <a:rPr lang="fr-FR" dirty="0" err="1" smtClean="0"/>
              <a:t>Reactor</a:t>
            </a:r>
            <a:r>
              <a:rPr lang="fr-FR" dirty="0" smtClean="0"/>
              <a:t>, </a:t>
            </a:r>
            <a:r>
              <a:rPr lang="fr-FR" dirty="0" err="1" smtClean="0"/>
              <a:t>Netflix</a:t>
            </a:r>
            <a:r>
              <a:rPr lang="fr-FR" dirty="0" smtClean="0"/>
              <a:t> </a:t>
            </a:r>
            <a:r>
              <a:rPr lang="fr-FR" dirty="0" err="1" smtClean="0"/>
              <a:t>RxJava</a:t>
            </a:r>
            <a:r>
              <a:rPr lang="fr-FR" dirty="0" smtClean="0"/>
              <a:t>, </a:t>
            </a:r>
            <a:r>
              <a:rPr lang="fr-FR" dirty="0" err="1" smtClean="0"/>
              <a:t>Vert.x</a:t>
            </a:r>
            <a:r>
              <a:rPr lang="fr-FR" dirty="0" smtClean="0"/>
              <a:t> 3.0, Cassandra, </a:t>
            </a:r>
            <a:r>
              <a:rPr lang="fr-FR" dirty="0" err="1" smtClean="0"/>
              <a:t>Elasticsearch</a:t>
            </a:r>
            <a:r>
              <a:rPr lang="fr-FR" dirty="0" smtClean="0"/>
              <a:t>, </a:t>
            </a:r>
            <a:r>
              <a:rPr lang="fr-FR" dirty="0"/>
              <a:t>Apache </a:t>
            </a:r>
            <a:r>
              <a:rPr lang="fr-FR" dirty="0" smtClean="0"/>
              <a:t>Kafka,…</a:t>
            </a:r>
            <a:endParaRPr lang="fr-FR" dirty="0"/>
          </a:p>
        </p:txBody>
      </p:sp>
      <p:sp>
        <p:nvSpPr>
          <p:cNvPr id="24" name="Explosion 2 23"/>
          <p:cNvSpPr/>
          <p:nvPr/>
        </p:nvSpPr>
        <p:spPr>
          <a:xfrm rot="20362369">
            <a:off x="928599" y="1996325"/>
            <a:ext cx="2743201" cy="1097998"/>
          </a:xfrm>
          <a:prstGeom prst="irregularSeal2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Functional</a:t>
            </a:r>
            <a:r>
              <a:rPr lang="fr-FR" sz="1400" dirty="0" smtClean="0"/>
              <a:t> </a:t>
            </a:r>
            <a:r>
              <a:rPr lang="fr-FR" sz="1400" dirty="0" err="1" smtClean="0"/>
              <a:t>programming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65066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Traitement des </a:t>
            </a:r>
            <a:r>
              <a:rPr lang="fr-FR" dirty="0" err="1" smtClean="0"/>
              <a:t>streams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Functional</a:t>
            </a:r>
            <a:r>
              <a:rPr lang="fr-FR" dirty="0" smtClean="0"/>
              <a:t> </a:t>
            </a:r>
            <a:r>
              <a:rPr lang="fr-FR" dirty="0" err="1" smtClean="0"/>
              <a:t>programming</a:t>
            </a:r>
            <a:endParaRPr lang="fr-FR" dirty="0" smtClean="0"/>
          </a:p>
          <a:p>
            <a:pPr lvl="1"/>
            <a:r>
              <a:rPr lang="fr-FR" dirty="0" smtClean="0"/>
              <a:t>Immutable data</a:t>
            </a:r>
          </a:p>
          <a:p>
            <a:pPr lvl="1"/>
            <a:r>
              <a:rPr lang="fr-FR" dirty="0" err="1" smtClean="0"/>
              <a:t>Functions</a:t>
            </a:r>
            <a:r>
              <a:rPr lang="fr-FR" dirty="0" smtClean="0"/>
              <a:t> </a:t>
            </a:r>
            <a:r>
              <a:rPr lang="fr-FR" dirty="0" err="1" smtClean="0"/>
              <a:t>without</a:t>
            </a:r>
            <a:r>
              <a:rPr lang="fr-FR" dirty="0" smtClean="0"/>
              <a:t> </a:t>
            </a:r>
            <a:r>
              <a:rPr lang="fr-FR" dirty="0" err="1" smtClean="0"/>
              <a:t>side</a:t>
            </a:r>
            <a:r>
              <a:rPr lang="fr-FR" dirty="0" smtClean="0"/>
              <a:t> </a:t>
            </a:r>
            <a:r>
              <a:rPr lang="fr-FR" dirty="0" err="1" smtClean="0"/>
              <a:t>effect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Storage</a:t>
            </a:r>
          </a:p>
          <a:p>
            <a:pPr lvl="1"/>
            <a:r>
              <a:rPr lang="fr-FR" dirty="0" smtClean="0"/>
              <a:t>Append </a:t>
            </a:r>
            <a:r>
              <a:rPr lang="fr-FR" dirty="0" err="1" smtClean="0"/>
              <a:t>only</a:t>
            </a:r>
            <a:endParaRPr lang="fr-FR" dirty="0" smtClean="0"/>
          </a:p>
          <a:p>
            <a:pPr lvl="1"/>
            <a:r>
              <a:rPr lang="fr-FR" dirty="0" smtClean="0"/>
              <a:t>Message (NOT state)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738" y="1978543"/>
            <a:ext cx="1402359" cy="420707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9037738" y="2399250"/>
            <a:ext cx="1503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or NOT Scala !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038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Architecture &amp; technologies 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The SMACK architecture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418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SMACK architecture</a:t>
            </a:r>
            <a:endParaRPr lang="fr-FR" dirty="0"/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mtClean="0"/>
              <a:t>Spark</a:t>
            </a:r>
          </a:p>
          <a:p>
            <a:r>
              <a:rPr lang="fr-FR" smtClean="0"/>
              <a:t>Mesos</a:t>
            </a:r>
          </a:p>
          <a:p>
            <a:r>
              <a:rPr lang="fr-FR" smtClean="0"/>
              <a:t>Akka</a:t>
            </a:r>
          </a:p>
          <a:p>
            <a:r>
              <a:rPr lang="fr-FR" smtClean="0"/>
              <a:t>Cassandra</a:t>
            </a:r>
          </a:p>
          <a:p>
            <a:r>
              <a:rPr lang="fr-FR" smtClean="0"/>
              <a:t>Kafka</a:t>
            </a:r>
          </a:p>
          <a:p>
            <a:endParaRPr lang="fr-FR" dirty="0"/>
          </a:p>
        </p:txBody>
      </p:sp>
      <p:grpSp>
        <p:nvGrpSpPr>
          <p:cNvPr id="11" name="Groupe 10"/>
          <p:cNvGrpSpPr/>
          <p:nvPr/>
        </p:nvGrpSpPr>
        <p:grpSpPr>
          <a:xfrm>
            <a:off x="3616410" y="1690689"/>
            <a:ext cx="7399524" cy="3730874"/>
            <a:chOff x="3739979" y="1690688"/>
            <a:chExt cx="7646659" cy="3855481"/>
          </a:xfrm>
        </p:grpSpPr>
        <p:pic>
          <p:nvPicPr>
            <p:cNvPr id="3" name="Image 2" descr="Capture d’écran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29"/>
            <a:stretch/>
          </p:blipFill>
          <p:spPr>
            <a:xfrm>
              <a:off x="3739979" y="1773067"/>
              <a:ext cx="7646659" cy="3723675"/>
            </a:xfrm>
            <a:prstGeom prst="rect">
              <a:avLst/>
            </a:prstGeom>
          </p:spPr>
        </p:pic>
        <p:cxnSp>
          <p:nvCxnSpPr>
            <p:cNvPr id="6" name="Connecteur droit 5"/>
            <p:cNvCxnSpPr/>
            <p:nvPr/>
          </p:nvCxnSpPr>
          <p:spPr>
            <a:xfrm flipH="1">
              <a:off x="6156264" y="1723640"/>
              <a:ext cx="13878" cy="377310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flipH="1">
              <a:off x="9381075" y="1690688"/>
              <a:ext cx="14182" cy="3855481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2" name="ZoneTexte 11"/>
          <p:cNvSpPr txBox="1"/>
          <p:nvPr/>
        </p:nvSpPr>
        <p:spPr>
          <a:xfrm>
            <a:off x="5701058" y="5590681"/>
            <a:ext cx="3706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 smtClean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fr-FR" b="1" dirty="0" err="1" smtClean="0">
                <a:solidFill>
                  <a:schemeClr val="accent1"/>
                </a:solidFill>
              </a:rPr>
              <a:t>Each</a:t>
            </a:r>
            <a:r>
              <a:rPr lang="fr-FR" b="1" dirty="0" smtClean="0">
                <a:solidFill>
                  <a:schemeClr val="accent1"/>
                </a:solidFill>
              </a:rPr>
              <a:t> part </a:t>
            </a:r>
            <a:r>
              <a:rPr lang="fr-FR" b="1" dirty="0" err="1" smtClean="0">
                <a:solidFill>
                  <a:schemeClr val="accent1"/>
                </a:solidFill>
              </a:rPr>
              <a:t>can</a:t>
            </a:r>
            <a:r>
              <a:rPr lang="fr-FR" b="1" dirty="0" smtClean="0">
                <a:solidFill>
                  <a:schemeClr val="accent1"/>
                </a:solidFill>
              </a:rPr>
              <a:t> </a:t>
            </a:r>
            <a:r>
              <a:rPr lang="fr-FR" b="1" dirty="0" err="1" smtClean="0">
                <a:solidFill>
                  <a:schemeClr val="accent1"/>
                </a:solidFill>
              </a:rPr>
              <a:t>scale</a:t>
            </a:r>
            <a:r>
              <a:rPr lang="fr-FR" b="1" dirty="0" smtClean="0">
                <a:solidFill>
                  <a:schemeClr val="accent1"/>
                </a:solidFill>
              </a:rPr>
              <a:t> </a:t>
            </a:r>
            <a:r>
              <a:rPr lang="fr-FR" b="1" dirty="0" err="1" smtClean="0">
                <a:solidFill>
                  <a:schemeClr val="accent1"/>
                </a:solidFill>
              </a:rPr>
              <a:t>independently</a:t>
            </a:r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21238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chemeClr val="bg1">
                    <a:lumMod val="75000"/>
                  </a:schemeClr>
                </a:solidFill>
              </a:rPr>
              <a:t>Talk de Helena </a:t>
            </a:r>
            <a:r>
              <a:rPr lang="fr-FR" dirty="0" err="1" smtClean="0">
                <a:solidFill>
                  <a:schemeClr val="bg1">
                    <a:lumMod val="75000"/>
                  </a:schemeClr>
                </a:solidFill>
              </a:rPr>
              <a:t>Edelson</a:t>
            </a:r>
            <a:r>
              <a:rPr lang="fr-FR" dirty="0" smtClean="0">
                <a:solidFill>
                  <a:schemeClr val="bg1">
                    <a:lumMod val="75000"/>
                  </a:schemeClr>
                </a:solidFill>
              </a:rPr>
              <a:t>: https</a:t>
            </a:r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://www.youtube.com/watch?v=3yNC3nMJ5dY</a:t>
            </a:r>
          </a:p>
          <a:p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fr-FR" dirty="0" smtClean="0">
                <a:solidFill>
                  <a:schemeClr val="bg1">
                    <a:lumMod val="75000"/>
                  </a:schemeClr>
                </a:solidFill>
              </a:rPr>
              <a:t>https</a:t>
            </a:r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://github.com/killrweather/killrweather</a:t>
            </a:r>
          </a:p>
        </p:txBody>
      </p:sp>
    </p:spTree>
    <p:extLst>
      <p:ext uri="{BB962C8B-B14F-4D97-AF65-F5344CB8AC3E}">
        <p14:creationId xmlns:p14="http://schemas.microsoft.com/office/powerpoint/2010/main" val="18639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SMACK architecture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Build Data Pipelines for Real Time Applications with </a:t>
            </a:r>
            <a:r>
              <a:rPr lang="en-US" dirty="0" smtClean="0"/>
              <a:t>SMACK</a:t>
            </a:r>
          </a:p>
          <a:p>
            <a:pPr lvl="1"/>
            <a:r>
              <a:rPr lang="fr-FR" dirty="0" smtClean="0"/>
              <a:t>06/04 Apache </a:t>
            </a:r>
            <a:r>
              <a:rPr lang="fr-FR" dirty="0" smtClean="0"/>
              <a:t>Kafka	</a:t>
            </a:r>
            <a:r>
              <a:rPr lang="fr-FR" dirty="0" smtClean="0">
                <a:hlinkClick r:id="rId2"/>
              </a:rPr>
              <a:t>https</a:t>
            </a:r>
            <a:r>
              <a:rPr lang="fr-FR" dirty="0">
                <a:hlinkClick r:id="rId2"/>
              </a:rPr>
              <a:t>://</a:t>
            </a:r>
            <a:r>
              <a:rPr lang="fr-FR" dirty="0" smtClean="0">
                <a:hlinkClick r:id="rId2"/>
              </a:rPr>
              <a:t>www.youtube.com/watch?v=uwYlwLyv-1s</a:t>
            </a:r>
            <a:endParaRPr lang="fr-FR" dirty="0" smtClean="0"/>
          </a:p>
          <a:p>
            <a:pPr lvl="1"/>
            <a:r>
              <a:rPr lang="fr-FR" dirty="0" smtClean="0"/>
              <a:t>04/05 </a:t>
            </a:r>
            <a:r>
              <a:rPr lang="fr-FR" dirty="0" err="1" smtClean="0"/>
              <a:t>Spark</a:t>
            </a:r>
            <a:r>
              <a:rPr lang="fr-FR" dirty="0" smtClean="0"/>
              <a:t> </a:t>
            </a:r>
            <a:r>
              <a:rPr lang="fr-FR" dirty="0" smtClean="0"/>
              <a:t>Streaming	…</a:t>
            </a:r>
            <a:endParaRPr lang="fr-FR" dirty="0" smtClean="0"/>
          </a:p>
          <a:p>
            <a:pPr lvl="1"/>
            <a:r>
              <a:rPr lang="fr-FR" dirty="0" smtClean="0"/>
              <a:t>18/05 </a:t>
            </a:r>
            <a:r>
              <a:rPr lang="fr-FR" dirty="0" smtClean="0"/>
              <a:t>Cassandra	…</a:t>
            </a:r>
            <a:endParaRPr lang="fr-FR" dirty="0" smtClean="0"/>
          </a:p>
          <a:p>
            <a:pPr lvl="1"/>
            <a:r>
              <a:rPr lang="fr-FR" dirty="0" smtClean="0"/>
              <a:t>01/06 </a:t>
            </a:r>
            <a:r>
              <a:rPr lang="fr-FR" dirty="0" err="1" smtClean="0"/>
              <a:t>Spark</a:t>
            </a:r>
            <a:r>
              <a:rPr lang="fr-FR" dirty="0" smtClean="0"/>
              <a:t> (</a:t>
            </a:r>
            <a:r>
              <a:rPr lang="fr-FR" dirty="0" err="1" smtClean="0"/>
              <a:t>core</a:t>
            </a:r>
            <a:r>
              <a:rPr lang="fr-FR" dirty="0" smtClean="0"/>
              <a:t>)	…</a:t>
            </a:r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 smtClean="0"/>
          </a:p>
          <a:p>
            <a:pPr marL="0" indent="0" algn="ctr">
              <a:buNone/>
            </a:pPr>
            <a:r>
              <a:rPr lang="fr-FR" sz="1600" dirty="0">
                <a:hlinkClick r:id="rId3"/>
              </a:rPr>
              <a:t>http://</a:t>
            </a:r>
            <a:r>
              <a:rPr lang="fr-FR" sz="1600" dirty="0" smtClean="0">
                <a:hlinkClick r:id="rId3"/>
              </a:rPr>
              <a:t>www.datastax.com/resources/webinars</a:t>
            </a:r>
            <a:endParaRPr lang="fr-FR" dirty="0" smtClean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4544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Architecture &amp; technologies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Something more complex…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493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Afficher l'image d'orig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35" y="2263605"/>
            <a:ext cx="587375" cy="418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Afficher l'image d'orig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35" y="1735648"/>
            <a:ext cx="587375" cy="418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fficher l'image d'orig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35" y="1207691"/>
            <a:ext cx="587375" cy="418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249920" y="2604719"/>
            <a:ext cx="917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400" dirty="0" smtClean="0"/>
              <a:t>Data</a:t>
            </a:r>
          </a:p>
          <a:p>
            <a:pPr algn="ctr"/>
            <a:r>
              <a:rPr lang="fr-FR" sz="1400" dirty="0" err="1" smtClean="0"/>
              <a:t>producers</a:t>
            </a:r>
            <a:endParaRPr lang="fr-FR" sz="1400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1273628" y="406754"/>
            <a:ext cx="1781991" cy="3888409"/>
          </a:xfrm>
          <a:prstGeom prst="roundRect">
            <a:avLst>
              <a:gd name="adj" fmla="val 6645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err="1" smtClean="0">
                <a:solidFill>
                  <a:schemeClr val="tx1"/>
                </a:solidFill>
              </a:rPr>
              <a:t>Lightbend</a:t>
            </a:r>
            <a:r>
              <a:rPr lang="fr-FR" sz="1400" b="1" dirty="0" smtClean="0">
                <a:solidFill>
                  <a:schemeClr val="tx1"/>
                </a:solidFill>
              </a:rPr>
              <a:t> </a:t>
            </a:r>
            <a:r>
              <a:rPr lang="fr-FR" sz="1400" b="1" dirty="0" err="1" smtClean="0">
                <a:solidFill>
                  <a:schemeClr val="tx1"/>
                </a:solidFill>
              </a:rPr>
              <a:t>Akka</a:t>
            </a:r>
            <a:r>
              <a:rPr lang="fr-FR" sz="1400" b="1" dirty="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 smtClean="0"/>
              <a:t>Réception des messages</a:t>
            </a:r>
          </a:p>
          <a:p>
            <a:pPr algn="ctr"/>
            <a:endParaRPr lang="fr-FR" sz="1400" dirty="0" smtClean="0"/>
          </a:p>
          <a:p>
            <a:pPr algn="ctr"/>
            <a:r>
              <a:rPr lang="fr-FR" sz="1400" dirty="0" smtClean="0"/>
              <a:t>Tâches asynchrones distribuées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 smtClean="0"/>
              <a:t>Per </a:t>
            </a:r>
            <a:r>
              <a:rPr lang="fr-FR" sz="1400" dirty="0" err="1" smtClean="0"/>
              <a:t>event</a:t>
            </a:r>
            <a:r>
              <a:rPr lang="fr-FR" sz="1400" dirty="0" smtClean="0"/>
              <a:t> </a:t>
            </a:r>
            <a:r>
              <a:rPr lang="fr-FR" sz="1400" dirty="0" err="1" smtClean="0"/>
              <a:t>processing</a:t>
            </a:r>
            <a:endParaRPr lang="fr-FR" sz="1400" dirty="0" smtClean="0"/>
          </a:p>
          <a:p>
            <a:pPr algn="ctr"/>
            <a:endParaRPr lang="fr-FR" sz="1400" dirty="0" smtClean="0"/>
          </a:p>
          <a:p>
            <a:pPr algn="ctr"/>
            <a:r>
              <a:rPr lang="fr-FR" sz="1400" dirty="0" smtClean="0"/>
              <a:t>Framework à acteurs</a:t>
            </a:r>
          </a:p>
          <a:p>
            <a:pPr algn="ctr"/>
            <a:endParaRPr lang="fr-FR" sz="1400" dirty="0"/>
          </a:p>
          <a:p>
            <a:pPr algn="ctr"/>
            <a:endParaRPr lang="fr-FR" sz="1400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207" y="602944"/>
            <a:ext cx="991961" cy="281984"/>
          </a:xfrm>
          <a:prstGeom prst="rect">
            <a:avLst/>
          </a:prstGeom>
        </p:spPr>
      </p:pic>
      <p:sp>
        <p:nvSpPr>
          <p:cNvPr id="13" name="Rectangle à coins arrondis 12"/>
          <p:cNvSpPr/>
          <p:nvPr/>
        </p:nvSpPr>
        <p:spPr>
          <a:xfrm>
            <a:off x="3299460" y="406754"/>
            <a:ext cx="1699260" cy="3888409"/>
          </a:xfrm>
          <a:prstGeom prst="roundRect">
            <a:avLst>
              <a:gd name="adj" fmla="val 545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Apache </a:t>
            </a:r>
          </a:p>
          <a:p>
            <a:pPr algn="ctr"/>
            <a:r>
              <a:rPr lang="fr-FR" sz="1400" b="1" dirty="0" smtClean="0">
                <a:solidFill>
                  <a:schemeClr val="tx1"/>
                </a:solidFill>
              </a:rPr>
              <a:t>Kafka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 smtClean="0"/>
              <a:t>Middleware asynchrone et distribué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 smtClean="0"/>
              <a:t>Queuing</a:t>
            </a:r>
          </a:p>
          <a:p>
            <a:pPr algn="ctr"/>
            <a:r>
              <a:rPr lang="fr-FR" sz="1400" dirty="0" smtClean="0"/>
              <a:t>Back pressure</a:t>
            </a:r>
          </a:p>
          <a:p>
            <a:pPr algn="ctr"/>
            <a:endParaRPr lang="fr-FR" sz="1400" dirty="0" smtClean="0"/>
          </a:p>
          <a:p>
            <a:pPr algn="ctr"/>
            <a:endParaRPr lang="fr-FR" sz="1400" dirty="0"/>
          </a:p>
          <a:p>
            <a:pPr algn="ctr"/>
            <a:endParaRPr lang="fr-FR" sz="1400" dirty="0"/>
          </a:p>
          <a:p>
            <a:pPr algn="ctr"/>
            <a:r>
              <a:rPr lang="fr-FR" sz="1400" dirty="0" smtClean="0"/>
              <a:t>Vs: </a:t>
            </a:r>
            <a:r>
              <a:rPr lang="fr-FR" sz="1400" dirty="0" err="1" smtClean="0"/>
              <a:t>ZeroMQ</a:t>
            </a:r>
            <a:r>
              <a:rPr lang="fr-FR" sz="1400" dirty="0" smtClean="0"/>
              <a:t>, JMS, AWS </a:t>
            </a:r>
            <a:r>
              <a:rPr lang="fr-FR" sz="1400" dirty="0" err="1" smtClean="0"/>
              <a:t>Kinesis</a:t>
            </a:r>
            <a:r>
              <a:rPr lang="fr-FR" sz="1400" dirty="0" smtClean="0"/>
              <a:t>, </a:t>
            </a:r>
            <a:r>
              <a:rPr lang="fr-FR" sz="1400" dirty="0" smtClean="0"/>
              <a:t>Apache Storm</a:t>
            </a:r>
            <a:r>
              <a:rPr lang="fr-FR" sz="1400" dirty="0" smtClean="0"/>
              <a:t>…</a:t>
            </a:r>
          </a:p>
        </p:txBody>
      </p:sp>
      <p:pic>
        <p:nvPicPr>
          <p:cNvPr id="2058" name="Picture 10" descr="http://kafka.apache.org/images/kafka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516" y="643965"/>
            <a:ext cx="449584" cy="70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à coins arrondis 13"/>
          <p:cNvSpPr/>
          <p:nvPr/>
        </p:nvSpPr>
        <p:spPr>
          <a:xfrm>
            <a:off x="5162549" y="406754"/>
            <a:ext cx="3590925" cy="1817813"/>
          </a:xfrm>
          <a:prstGeom prst="roundRect">
            <a:avLst>
              <a:gd name="adj" fmla="val 3149"/>
            </a:avLst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fr-FR" sz="1400" dirty="0" smtClean="0"/>
              <a:t>Batch layer</a:t>
            </a:r>
          </a:p>
          <a:p>
            <a:pPr algn="r"/>
            <a:r>
              <a:rPr lang="fr-FR" sz="1400" dirty="0" smtClean="0"/>
              <a:t>(Mise à jour périodique et complète des vues)</a:t>
            </a:r>
            <a:endParaRPr lang="fr-FR" sz="1400" dirty="0"/>
          </a:p>
        </p:txBody>
      </p:sp>
      <p:sp>
        <p:nvSpPr>
          <p:cNvPr id="17" name="Rectangle à coins arrondis 16"/>
          <p:cNvSpPr/>
          <p:nvPr/>
        </p:nvSpPr>
        <p:spPr>
          <a:xfrm>
            <a:off x="5162550" y="2462693"/>
            <a:ext cx="5429249" cy="1832470"/>
          </a:xfrm>
          <a:prstGeom prst="roundRect">
            <a:avLst>
              <a:gd name="adj" fmla="val 3149"/>
            </a:avLst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fr-FR" sz="1400" dirty="0" smtClean="0"/>
              <a:t>Speed layer</a:t>
            </a:r>
          </a:p>
          <a:p>
            <a:pPr algn="r"/>
            <a:r>
              <a:rPr lang="fr-FR" sz="1400" dirty="0" smtClean="0"/>
              <a:t>(Mise à jour continue et incrémentale)</a:t>
            </a:r>
            <a:endParaRPr lang="fr-FR" sz="1400" dirty="0"/>
          </a:p>
        </p:txBody>
      </p:sp>
      <p:sp>
        <p:nvSpPr>
          <p:cNvPr id="15" name="Cylindre 14"/>
          <p:cNvSpPr/>
          <p:nvPr/>
        </p:nvSpPr>
        <p:spPr>
          <a:xfrm>
            <a:off x="5362574" y="548529"/>
            <a:ext cx="857250" cy="103435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Master</a:t>
            </a:r>
          </a:p>
          <a:p>
            <a:pPr algn="ctr"/>
            <a:r>
              <a:rPr lang="fr-FR" sz="1400" dirty="0" smtClean="0"/>
              <a:t>DB</a:t>
            </a:r>
            <a:endParaRPr lang="fr-FR" sz="1400" dirty="0"/>
          </a:p>
        </p:txBody>
      </p:sp>
      <p:sp>
        <p:nvSpPr>
          <p:cNvPr id="16" name="Rectangle à coins arrondis 15"/>
          <p:cNvSpPr/>
          <p:nvPr/>
        </p:nvSpPr>
        <p:spPr>
          <a:xfrm>
            <a:off x="6488428" y="548529"/>
            <a:ext cx="2122172" cy="1034355"/>
          </a:xfrm>
          <a:prstGeom prst="roundRect">
            <a:avLst>
              <a:gd name="adj" fmla="val 69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 smtClean="0">
                <a:solidFill>
                  <a:schemeClr val="tx1"/>
                </a:solidFill>
              </a:rPr>
              <a:t>Apache </a:t>
            </a:r>
          </a:p>
          <a:p>
            <a:pPr algn="ctr"/>
            <a:endParaRPr lang="fr-FR" sz="1400" dirty="0"/>
          </a:p>
          <a:p>
            <a:pPr algn="ctr"/>
            <a:r>
              <a:rPr lang="fr-FR" sz="1400" dirty="0" smtClean="0"/>
              <a:t>Large </a:t>
            </a:r>
            <a:r>
              <a:rPr lang="fr-FR" sz="1400" dirty="0" err="1" smtClean="0"/>
              <a:t>scale</a:t>
            </a:r>
            <a:r>
              <a:rPr lang="fr-FR" sz="1400" dirty="0" smtClean="0"/>
              <a:t> data </a:t>
            </a:r>
            <a:r>
              <a:rPr lang="fr-FR" sz="1400" dirty="0" err="1" smtClean="0"/>
              <a:t>process</a:t>
            </a:r>
            <a:endParaRPr lang="fr-FR" sz="1400" dirty="0"/>
          </a:p>
        </p:txBody>
      </p:sp>
      <p:pic>
        <p:nvPicPr>
          <p:cNvPr id="2060" name="Picture 12" descr="http://spark.apache.org/images/spark-logo-trademark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273" y="541353"/>
            <a:ext cx="933450" cy="47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à coins arrondis 21"/>
          <p:cNvSpPr/>
          <p:nvPr/>
        </p:nvSpPr>
        <p:spPr>
          <a:xfrm>
            <a:off x="8953498" y="406754"/>
            <a:ext cx="1638301" cy="1816454"/>
          </a:xfrm>
          <a:prstGeom prst="roundRect">
            <a:avLst>
              <a:gd name="adj" fmla="val 3149"/>
            </a:avLst>
          </a:prstGeom>
          <a:ln>
            <a:prstDash val="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fr-FR" sz="1400" dirty="0" err="1" smtClean="0"/>
              <a:t>Serving</a:t>
            </a:r>
            <a:r>
              <a:rPr lang="fr-FR" sz="1400" dirty="0" smtClean="0"/>
              <a:t> layer</a:t>
            </a:r>
          </a:p>
          <a:p>
            <a:pPr algn="r"/>
            <a:r>
              <a:rPr lang="fr-FR" sz="1400" dirty="0" smtClean="0"/>
              <a:t>(stockage des vues)</a:t>
            </a:r>
            <a:endParaRPr lang="fr-FR" sz="1400" dirty="0"/>
          </a:p>
        </p:txBody>
      </p:sp>
      <p:sp>
        <p:nvSpPr>
          <p:cNvPr id="23" name="Rectangle à coins arrondis 22"/>
          <p:cNvSpPr/>
          <p:nvPr/>
        </p:nvSpPr>
        <p:spPr>
          <a:xfrm>
            <a:off x="5362573" y="2572897"/>
            <a:ext cx="2886077" cy="1192005"/>
          </a:xfrm>
          <a:prstGeom prst="roundRect">
            <a:avLst>
              <a:gd name="adj" fmla="val 69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600" dirty="0" smtClean="0">
                <a:solidFill>
                  <a:schemeClr val="tx1"/>
                </a:solidFill>
              </a:rPr>
              <a:t>Apache </a:t>
            </a:r>
          </a:p>
          <a:p>
            <a:r>
              <a:rPr lang="fr-FR" sz="1600" dirty="0" smtClean="0">
                <a:solidFill>
                  <a:schemeClr val="tx1"/>
                </a:solidFill>
              </a:rPr>
              <a:t>Streaming</a:t>
            </a:r>
          </a:p>
          <a:p>
            <a:r>
              <a:rPr lang="fr-FR" sz="1400" dirty="0" smtClean="0"/>
              <a:t>Near real time Micro </a:t>
            </a:r>
            <a:r>
              <a:rPr lang="fr-FR" sz="1400" dirty="0"/>
              <a:t>batch</a:t>
            </a:r>
          </a:p>
          <a:p>
            <a:r>
              <a:rPr lang="fr-FR" sz="1400" dirty="0" smtClean="0"/>
              <a:t>Vs: Twitter Storm, Yahoo s4…</a:t>
            </a:r>
          </a:p>
          <a:p>
            <a:pPr algn="ctr"/>
            <a:endParaRPr lang="fr-FR" sz="1400" dirty="0" smtClean="0"/>
          </a:p>
          <a:p>
            <a:pPr algn="ctr"/>
            <a:endParaRPr lang="fr-FR" sz="1400" dirty="0"/>
          </a:p>
        </p:txBody>
      </p:sp>
      <p:pic>
        <p:nvPicPr>
          <p:cNvPr id="24" name="Picture 12" descr="http://spark.apache.org/images/spark-logo-trademark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419" y="2572537"/>
            <a:ext cx="933450" cy="47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à coins arrondis 18"/>
          <p:cNvSpPr/>
          <p:nvPr/>
        </p:nvSpPr>
        <p:spPr>
          <a:xfrm>
            <a:off x="8412480" y="2572897"/>
            <a:ext cx="618171" cy="119200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10" descr="http://kafka.apache.org/images/kafka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914" y="2776762"/>
            <a:ext cx="449584" cy="70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à coins arrondis 19"/>
          <p:cNvSpPr/>
          <p:nvPr/>
        </p:nvSpPr>
        <p:spPr>
          <a:xfrm>
            <a:off x="9191624" y="2572897"/>
            <a:ext cx="1304925" cy="1192005"/>
          </a:xfrm>
          <a:prstGeom prst="roundRect">
            <a:avLst>
              <a:gd name="adj" fmla="val 10417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err="1" smtClean="0">
                <a:solidFill>
                  <a:schemeClr val="tx1"/>
                </a:solidFill>
              </a:rPr>
              <a:t>Elastic</a:t>
            </a:r>
            <a:r>
              <a:rPr lang="fr-FR" sz="1400" b="1" dirty="0" smtClean="0">
                <a:solidFill>
                  <a:schemeClr val="tx1"/>
                </a:solidFill>
              </a:rPr>
              <a:t> </a:t>
            </a:r>
            <a:r>
              <a:rPr lang="fr-FR" sz="1400" b="1" dirty="0" err="1" smtClean="0">
                <a:solidFill>
                  <a:schemeClr val="tx1"/>
                </a:solidFill>
              </a:rPr>
              <a:t>search</a:t>
            </a:r>
            <a:endParaRPr lang="fr-FR" sz="1400" b="1" dirty="0" smtClean="0">
              <a:solidFill>
                <a:schemeClr val="tx1"/>
              </a:solidFill>
            </a:endParaRPr>
          </a:p>
          <a:p>
            <a:pPr algn="ctr"/>
            <a:endParaRPr lang="fr-FR" sz="1400" dirty="0" smtClean="0"/>
          </a:p>
          <a:p>
            <a:pPr algn="ctr"/>
            <a:r>
              <a:rPr lang="fr-FR" sz="1400" dirty="0" smtClean="0"/>
              <a:t>Indexation et recherche des données</a:t>
            </a:r>
            <a:endParaRPr lang="fr-FR" sz="1400" dirty="0"/>
          </a:p>
        </p:txBody>
      </p:sp>
      <p:pic>
        <p:nvPicPr>
          <p:cNvPr id="2062" name="Picture 14" descr="Résultat de recherche d'images pour &quot;person&quot;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9974" y="1866827"/>
            <a:ext cx="815342" cy="104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Connecteur droit avec flèche 24"/>
          <p:cNvCxnSpPr>
            <a:endCxn id="20" idx="3"/>
          </p:cNvCxnSpPr>
          <p:nvPr/>
        </p:nvCxnSpPr>
        <p:spPr>
          <a:xfrm flipH="1">
            <a:off x="10496549" y="2775801"/>
            <a:ext cx="733426" cy="393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/>
          <p:nvPr/>
        </p:nvCxnSpPr>
        <p:spPr>
          <a:xfrm flipH="1" flipV="1">
            <a:off x="10334625" y="1547055"/>
            <a:ext cx="895349" cy="676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à coins arrondis 27"/>
          <p:cNvSpPr/>
          <p:nvPr/>
        </p:nvSpPr>
        <p:spPr>
          <a:xfrm>
            <a:off x="9048750" y="525993"/>
            <a:ext cx="847725" cy="35067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à coins arrondis 33"/>
          <p:cNvSpPr/>
          <p:nvPr/>
        </p:nvSpPr>
        <p:spPr>
          <a:xfrm>
            <a:off x="9201150" y="678393"/>
            <a:ext cx="847725" cy="35067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à coins arrondis 34"/>
          <p:cNvSpPr/>
          <p:nvPr/>
        </p:nvSpPr>
        <p:spPr>
          <a:xfrm>
            <a:off x="9353550" y="830793"/>
            <a:ext cx="847725" cy="35067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à coins arrondis 35"/>
          <p:cNvSpPr/>
          <p:nvPr/>
        </p:nvSpPr>
        <p:spPr>
          <a:xfrm>
            <a:off x="9505950" y="983193"/>
            <a:ext cx="847725" cy="35067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à coins arrondis 36"/>
          <p:cNvSpPr/>
          <p:nvPr/>
        </p:nvSpPr>
        <p:spPr>
          <a:xfrm>
            <a:off x="9658350" y="1135593"/>
            <a:ext cx="847725" cy="35067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view</a:t>
            </a:r>
            <a:endParaRPr lang="fr-FR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0" y="4591137"/>
            <a:ext cx="12192000" cy="0"/>
          </a:xfrm>
          <a:prstGeom prst="line">
            <a:avLst/>
          </a:prstGeom>
          <a:ln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48" name="Rectangle à coins arrondis 2047"/>
          <p:cNvSpPr/>
          <p:nvPr/>
        </p:nvSpPr>
        <p:spPr>
          <a:xfrm>
            <a:off x="892628" y="4880215"/>
            <a:ext cx="3355522" cy="16850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9625" algn="ctr"/>
            <a:r>
              <a:rPr lang="fr-FR" dirty="0" smtClean="0">
                <a:solidFill>
                  <a:schemeClr val="tx1"/>
                </a:solidFill>
              </a:rPr>
              <a:t>Apache </a:t>
            </a:r>
            <a:r>
              <a:rPr lang="fr-FR" dirty="0" err="1" smtClean="0">
                <a:solidFill>
                  <a:schemeClr val="tx1"/>
                </a:solidFill>
              </a:rPr>
              <a:t>ZooKeeper</a:t>
            </a:r>
            <a:endParaRPr lang="fr-FR" dirty="0" smtClean="0">
              <a:solidFill>
                <a:schemeClr val="tx1"/>
              </a:solidFill>
            </a:endParaRPr>
          </a:p>
          <a:p>
            <a:pPr marL="809625">
              <a:buFontTx/>
              <a:buChar char="-"/>
            </a:pPr>
            <a:r>
              <a:rPr lang="fr-FR" dirty="0" smtClean="0"/>
              <a:t>Service d’annuaire</a:t>
            </a:r>
          </a:p>
          <a:p>
            <a:pPr marL="809625">
              <a:buFontTx/>
              <a:buChar char="-"/>
            </a:pPr>
            <a:r>
              <a:rPr lang="fr-FR" dirty="0" smtClean="0"/>
              <a:t>Élection des masters</a:t>
            </a:r>
            <a:endParaRPr lang="fr-FR" dirty="0"/>
          </a:p>
        </p:txBody>
      </p:sp>
      <p:pic>
        <p:nvPicPr>
          <p:cNvPr id="2064" name="Picture 16" descr="https://zookeeper.apache.org/images/zookeeper_small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" y="5139648"/>
            <a:ext cx="752475" cy="106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à coins arrondis 41"/>
          <p:cNvSpPr/>
          <p:nvPr/>
        </p:nvSpPr>
        <p:spPr>
          <a:xfrm>
            <a:off x="4429666" y="4880216"/>
            <a:ext cx="4695283" cy="1685044"/>
          </a:xfrm>
          <a:prstGeom prst="roundRect">
            <a:avLst/>
          </a:prstGeom>
          <a:solidFill>
            <a:srgbClr val="00456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Char char="-"/>
            </a:pPr>
            <a:r>
              <a:rPr lang="fr-FR" dirty="0" smtClean="0"/>
              <a:t>Cluster management</a:t>
            </a:r>
          </a:p>
          <a:p>
            <a:pPr>
              <a:buFontTx/>
              <a:buChar char="-"/>
            </a:pPr>
            <a:r>
              <a:rPr lang="fr-FR" dirty="0" smtClean="0"/>
              <a:t>Partage dynamique des ressources</a:t>
            </a:r>
          </a:p>
          <a:p>
            <a:pPr>
              <a:buFontTx/>
              <a:buChar char="-"/>
            </a:pPr>
            <a:r>
              <a:rPr lang="fr-FR" dirty="0"/>
              <a:t>V</a:t>
            </a:r>
            <a:r>
              <a:rPr lang="fr-FR" dirty="0" smtClean="0"/>
              <a:t>oire toutes les ressources comme une seule</a:t>
            </a:r>
          </a:p>
          <a:p>
            <a:pPr>
              <a:buFontTx/>
              <a:buChar char="-"/>
            </a:pPr>
            <a:r>
              <a:rPr lang="fr-FR" dirty="0" smtClean="0"/>
              <a:t>Evite de multiplier les VM</a:t>
            </a:r>
          </a:p>
          <a:p>
            <a:pPr>
              <a:buFontTx/>
              <a:buChar char="-"/>
            </a:pPr>
            <a:r>
              <a:rPr lang="fr-FR" dirty="0" smtClean="0"/>
              <a:t>Vs YARN</a:t>
            </a:r>
            <a:endParaRPr lang="fr-FR" dirty="0"/>
          </a:p>
        </p:txBody>
      </p:sp>
      <p:pic>
        <p:nvPicPr>
          <p:cNvPr id="2066" name="Picture 18" descr="Apache Mesos log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835" y="4862914"/>
            <a:ext cx="1490664" cy="632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ctangle à coins arrondis 44"/>
          <p:cNvSpPr/>
          <p:nvPr/>
        </p:nvSpPr>
        <p:spPr>
          <a:xfrm>
            <a:off x="9277350" y="4880215"/>
            <a:ext cx="2190750" cy="16850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Marathon</a:t>
            </a:r>
          </a:p>
          <a:p>
            <a:r>
              <a:rPr lang="fr-FR" dirty="0" smtClean="0"/>
              <a:t>Facilite la config </a:t>
            </a:r>
            <a:r>
              <a:rPr lang="fr-FR" dirty="0" err="1" smtClean="0"/>
              <a:t>Mesos</a:t>
            </a:r>
            <a:r>
              <a:rPr lang="fr-FR" dirty="0" smtClean="0"/>
              <a:t> pour les applis longue durée</a:t>
            </a:r>
          </a:p>
        </p:txBody>
      </p:sp>
    </p:spTree>
    <p:extLst>
      <p:ext uri="{BB962C8B-B14F-4D97-AF65-F5344CB8AC3E}">
        <p14:creationId xmlns:p14="http://schemas.microsoft.com/office/powerpoint/2010/main" val="16900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930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Messaging / Queuing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000500" y="1825625"/>
            <a:ext cx="7353300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Site: </a:t>
            </a:r>
            <a:r>
              <a:rPr lang="en-US" dirty="0">
                <a:hlinkClick r:id="rId2"/>
              </a:rPr>
              <a:t>http://kafka.apache.org/</a:t>
            </a:r>
            <a:endParaRPr lang="en-US" dirty="0"/>
          </a:p>
          <a:p>
            <a:pPr lvl="0"/>
            <a:r>
              <a:rPr lang="en-US" sz="2700" dirty="0"/>
              <a:t>Code: </a:t>
            </a:r>
            <a:r>
              <a:rPr lang="fr-FR" altLang="fr-FR" sz="2700" dirty="0"/>
              <a:t>https://git-wip-us.apache.org/repos/asf/kafka.git </a:t>
            </a:r>
            <a:endParaRPr lang="en-US" sz="2700" dirty="0"/>
          </a:p>
          <a:p>
            <a:r>
              <a:rPr lang="en-US" dirty="0"/>
              <a:t>License: Apache v2</a:t>
            </a:r>
          </a:p>
          <a:p>
            <a:r>
              <a:rPr lang="en-US" dirty="0"/>
              <a:t>Key </a:t>
            </a:r>
            <a:r>
              <a:rPr lang="en-US" dirty="0" err="1"/>
              <a:t>contributer</a:t>
            </a:r>
            <a:r>
              <a:rPr lang="en-US" dirty="0" smtClean="0"/>
              <a:t>: ?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Site: </a:t>
            </a:r>
            <a:r>
              <a:rPr lang="en-US" dirty="0" smtClean="0">
                <a:hlinkClick r:id="rId3"/>
              </a:rPr>
              <a:t>http://zeromq.org/</a:t>
            </a:r>
            <a:endParaRPr lang="en-US" dirty="0" smtClean="0"/>
          </a:p>
          <a:p>
            <a:r>
              <a:rPr lang="en-US" dirty="0" smtClean="0"/>
              <a:t>Code: </a:t>
            </a:r>
            <a:r>
              <a:rPr lang="en-US" dirty="0" smtClean="0">
                <a:hlinkClick r:id="rId4"/>
              </a:rPr>
              <a:t>https://github.com/zeromq</a:t>
            </a:r>
            <a:endParaRPr lang="en-US" dirty="0" smtClean="0"/>
          </a:p>
          <a:p>
            <a:r>
              <a:rPr lang="en-US" dirty="0" smtClean="0"/>
              <a:t>License: </a:t>
            </a:r>
            <a:r>
              <a:rPr lang="fr-FR" dirty="0"/>
              <a:t>LGPLv3 </a:t>
            </a:r>
            <a:endParaRPr lang="fr-FR" dirty="0" smtClean="0"/>
          </a:p>
          <a:p>
            <a:r>
              <a:rPr lang="en-US" dirty="0" smtClean="0"/>
              <a:t>Key </a:t>
            </a:r>
            <a:r>
              <a:rPr lang="en-US" dirty="0" err="1" smtClean="0"/>
              <a:t>contributer</a:t>
            </a:r>
            <a:r>
              <a:rPr lang="en-US" dirty="0" smtClean="0"/>
              <a:t>: </a:t>
            </a:r>
            <a:r>
              <a:rPr lang="fr-FR" dirty="0" err="1" smtClean="0"/>
              <a:t>iMatix</a:t>
            </a:r>
            <a:r>
              <a:rPr lang="fr-FR" dirty="0" smtClean="0"/>
              <a:t> Corporation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Site: </a:t>
            </a:r>
            <a:r>
              <a:rPr lang="en-US" dirty="0" smtClean="0">
                <a:hlinkClick r:id="rId5"/>
              </a:rPr>
              <a:t>http://www.oracle.com/technetwork/java/jms/index.html</a:t>
            </a:r>
            <a:endParaRPr lang="en-US" dirty="0" smtClean="0"/>
          </a:p>
          <a:p>
            <a:r>
              <a:rPr lang="en-US" dirty="0" smtClean="0"/>
              <a:t>Code:  Spec only</a:t>
            </a:r>
          </a:p>
        </p:txBody>
      </p:sp>
      <p:pic>
        <p:nvPicPr>
          <p:cNvPr id="7" name="Picture 10" descr="http://kafka.apache.org/images/kafka_log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128" y="1909431"/>
            <a:ext cx="718850" cy="112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811" y="3662189"/>
            <a:ext cx="2027870" cy="633377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104" y="4864985"/>
            <a:ext cx="1097284" cy="113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2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Traitement massif de messages </a:t>
            </a:r>
            <a:br>
              <a:rPr lang="fr-FR" dirty="0" smtClean="0"/>
            </a:br>
            <a:r>
              <a:rPr lang="fr-FR" dirty="0" smtClean="0"/>
              <a:t>(ex: prétraitement / </a:t>
            </a:r>
            <a:r>
              <a:rPr lang="fr-FR" dirty="0" err="1" smtClean="0"/>
              <a:t>workers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000500" y="1825625"/>
            <a:ext cx="7353300" cy="4351338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Site: </a:t>
            </a:r>
            <a:r>
              <a:rPr lang="en-US" dirty="0" smtClean="0">
                <a:hlinkClick r:id="rId2"/>
              </a:rPr>
              <a:t>http://projectreactor.io/</a:t>
            </a:r>
            <a:endParaRPr lang="en-US" dirty="0" smtClean="0"/>
          </a:p>
          <a:p>
            <a:r>
              <a:rPr lang="en-US" dirty="0" smtClean="0"/>
              <a:t>Code: </a:t>
            </a:r>
            <a:r>
              <a:rPr lang="en-US" dirty="0" smtClean="0">
                <a:hlinkClick r:id="rId3"/>
              </a:rPr>
              <a:t>https://github.com/reactor/reactor</a:t>
            </a:r>
            <a:endParaRPr lang="en-US" dirty="0" smtClean="0"/>
          </a:p>
          <a:p>
            <a:r>
              <a:rPr lang="en-US" dirty="0" smtClean="0"/>
              <a:t>License: Apache v2</a:t>
            </a:r>
          </a:p>
          <a:p>
            <a:r>
              <a:rPr lang="en-US" dirty="0" smtClean="0"/>
              <a:t>Key </a:t>
            </a:r>
            <a:r>
              <a:rPr lang="en-US" dirty="0" err="1" smtClean="0"/>
              <a:t>contributer</a:t>
            </a:r>
            <a:r>
              <a:rPr lang="en-US" dirty="0" smtClean="0"/>
              <a:t>: Spring/Pivotal</a:t>
            </a:r>
          </a:p>
          <a:p>
            <a:endParaRPr lang="en-US" dirty="0"/>
          </a:p>
          <a:p>
            <a:r>
              <a:rPr lang="en-US" dirty="0" smtClean="0"/>
              <a:t>Site: </a:t>
            </a:r>
            <a:r>
              <a:rPr lang="en-US" dirty="0" smtClean="0">
                <a:hlinkClick r:id="rId4"/>
              </a:rPr>
              <a:t>http://akka.io/</a:t>
            </a:r>
            <a:endParaRPr lang="en-US" dirty="0" smtClean="0"/>
          </a:p>
          <a:p>
            <a:r>
              <a:rPr lang="en-US" dirty="0" smtClean="0"/>
              <a:t>Code: </a:t>
            </a:r>
            <a:r>
              <a:rPr lang="en-US" dirty="0" smtClean="0">
                <a:hlinkClick r:id="rId5"/>
              </a:rPr>
              <a:t>https://github.com/akka/akka</a:t>
            </a:r>
            <a:endParaRPr lang="en-US" dirty="0" smtClean="0"/>
          </a:p>
          <a:p>
            <a:r>
              <a:rPr lang="en-US" dirty="0" smtClean="0"/>
              <a:t>License: Apache v2</a:t>
            </a:r>
          </a:p>
          <a:p>
            <a:r>
              <a:rPr lang="en-US" dirty="0" smtClean="0"/>
              <a:t>Key </a:t>
            </a:r>
            <a:r>
              <a:rPr lang="en-US" dirty="0" err="1" smtClean="0"/>
              <a:t>contributer</a:t>
            </a:r>
            <a:r>
              <a:rPr lang="en-US" dirty="0" smtClean="0"/>
              <a:t>: </a:t>
            </a:r>
            <a:r>
              <a:rPr lang="en-US" dirty="0" err="1" smtClean="0"/>
              <a:t>Lightbend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Site: </a:t>
            </a:r>
            <a:r>
              <a:rPr lang="en-US" dirty="0" smtClean="0">
                <a:hlinkClick r:id="rId6"/>
              </a:rPr>
              <a:t>http://vertx.io/</a:t>
            </a:r>
            <a:endParaRPr lang="en-US" dirty="0" smtClean="0"/>
          </a:p>
          <a:p>
            <a:r>
              <a:rPr lang="en-US" dirty="0" smtClean="0"/>
              <a:t>Code: </a:t>
            </a:r>
            <a:r>
              <a:rPr lang="en-US" dirty="0" smtClean="0">
                <a:hlinkClick r:id="rId7"/>
              </a:rPr>
              <a:t>https://github.com/eclipse/vert.x</a:t>
            </a:r>
            <a:endParaRPr lang="en-US" dirty="0" smtClean="0"/>
          </a:p>
          <a:p>
            <a:r>
              <a:rPr lang="en-US" dirty="0" smtClean="0"/>
              <a:t>License: Apache v2 et EPL</a:t>
            </a:r>
          </a:p>
          <a:p>
            <a:r>
              <a:rPr lang="en-US" dirty="0" smtClean="0"/>
              <a:t>Key </a:t>
            </a:r>
            <a:r>
              <a:rPr lang="en-US" dirty="0" err="1" smtClean="0"/>
              <a:t>contributer</a:t>
            </a:r>
            <a:r>
              <a:rPr lang="en-US" dirty="0" smtClean="0"/>
              <a:t>: </a:t>
            </a:r>
            <a:r>
              <a:rPr lang="en-US" dirty="0" err="1" smtClean="0"/>
              <a:t>RedHat</a:t>
            </a:r>
            <a:endParaRPr lang="en-US" dirty="0" smtClean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14525"/>
            <a:ext cx="3114675" cy="6477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01219"/>
            <a:ext cx="2342695" cy="66595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37" y="4800600"/>
            <a:ext cx="1986359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Apache </a:t>
            </a:r>
            <a:r>
              <a:rPr lang="fr-FR" dirty="0" err="1" smtClean="0"/>
              <a:t>Spark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dirty="0" err="1" smtClean="0"/>
              <a:t>Fast</a:t>
            </a:r>
            <a:r>
              <a:rPr lang="fr-FR" dirty="0" smtClean="0"/>
              <a:t>, </a:t>
            </a:r>
            <a:r>
              <a:rPr lang="fr-FR" dirty="0" err="1" smtClean="0"/>
              <a:t>distributed</a:t>
            </a:r>
            <a:r>
              <a:rPr lang="fr-FR" dirty="0" smtClean="0"/>
              <a:t>, </a:t>
            </a:r>
            <a:r>
              <a:rPr lang="fr-FR" dirty="0" err="1" smtClean="0"/>
              <a:t>scalable</a:t>
            </a:r>
            <a:r>
              <a:rPr lang="fr-FR" dirty="0" smtClean="0"/>
              <a:t> and </a:t>
            </a:r>
            <a:r>
              <a:rPr lang="fr-FR" dirty="0" err="1" smtClean="0"/>
              <a:t>fault</a:t>
            </a:r>
            <a:r>
              <a:rPr lang="fr-FR" dirty="0" smtClean="0"/>
              <a:t> </a:t>
            </a:r>
            <a:r>
              <a:rPr lang="fr-FR" dirty="0" err="1" smtClean="0"/>
              <a:t>tolerant</a:t>
            </a:r>
            <a:r>
              <a:rPr lang="fr-FR" dirty="0" smtClean="0"/>
              <a:t> cluster </a:t>
            </a:r>
            <a:r>
              <a:rPr lang="fr-FR" dirty="0" err="1" smtClean="0"/>
              <a:t>compute</a:t>
            </a:r>
            <a:r>
              <a:rPr lang="fr-FR" dirty="0" smtClean="0"/>
              <a:t> </a:t>
            </a:r>
            <a:r>
              <a:rPr lang="fr-FR" dirty="0" smtClean="0"/>
              <a:t>system</a:t>
            </a:r>
          </a:p>
          <a:p>
            <a:r>
              <a:rPr lang="fr-FR" dirty="0" smtClean="0"/>
              <a:t>In memory</a:t>
            </a:r>
            <a:endParaRPr lang="fr-FR" dirty="0" smtClean="0"/>
          </a:p>
          <a:p>
            <a:r>
              <a:rPr lang="fr-FR" dirty="0"/>
              <a:t>One of the </a:t>
            </a:r>
            <a:r>
              <a:rPr lang="fr-FR" dirty="0" err="1"/>
              <a:t>most</a:t>
            </a:r>
            <a:r>
              <a:rPr lang="fr-FR" dirty="0"/>
              <a:t> active OSS in </a:t>
            </a:r>
            <a:r>
              <a:rPr lang="fr-FR" dirty="0" err="1"/>
              <a:t>Big</a:t>
            </a:r>
            <a:r>
              <a:rPr lang="fr-FR" dirty="0"/>
              <a:t> Data</a:t>
            </a:r>
          </a:p>
          <a:p>
            <a:r>
              <a:rPr lang="fr-FR" dirty="0"/>
              <a:t>Un seul </a:t>
            </a:r>
            <a:r>
              <a:rPr lang="fr-FR" dirty="0" err="1"/>
              <a:t>framework</a:t>
            </a:r>
            <a:r>
              <a:rPr lang="fr-FR" dirty="0"/>
              <a:t> pour batch </a:t>
            </a:r>
            <a:r>
              <a:rPr lang="fr-FR" dirty="0" err="1"/>
              <a:t>processing</a:t>
            </a:r>
            <a:r>
              <a:rPr lang="fr-FR" dirty="0"/>
              <a:t> et </a:t>
            </a:r>
            <a:r>
              <a:rPr lang="fr-FR" dirty="0" err="1"/>
              <a:t>stream</a:t>
            </a:r>
            <a:r>
              <a:rPr lang="fr-FR" dirty="0"/>
              <a:t> </a:t>
            </a:r>
            <a:r>
              <a:rPr lang="fr-FR" dirty="0" err="1"/>
              <a:t>processing</a:t>
            </a:r>
            <a:endParaRPr lang="fr-FR" dirty="0"/>
          </a:p>
          <a:p>
            <a:r>
              <a:rPr lang="fr-FR" dirty="0" err="1" smtClean="0"/>
              <a:t>Enables</a:t>
            </a:r>
            <a:r>
              <a:rPr lang="fr-FR" dirty="0" smtClean="0"/>
              <a:t> </a:t>
            </a:r>
            <a:r>
              <a:rPr lang="fr-FR" dirty="0" err="1" smtClean="0"/>
              <a:t>low</a:t>
            </a:r>
            <a:r>
              <a:rPr lang="fr-FR" dirty="0" smtClean="0"/>
              <a:t> </a:t>
            </a:r>
            <a:r>
              <a:rPr lang="fr-FR" dirty="0" err="1" smtClean="0"/>
              <a:t>latency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complex</a:t>
            </a:r>
            <a:r>
              <a:rPr lang="fr-FR" dirty="0" smtClean="0"/>
              <a:t> </a:t>
            </a:r>
            <a:r>
              <a:rPr lang="fr-FR" dirty="0" err="1" smtClean="0"/>
              <a:t>analytics</a:t>
            </a:r>
            <a:endParaRPr lang="fr-FR" dirty="0" smtClean="0"/>
          </a:p>
          <a:p>
            <a:r>
              <a:rPr lang="fr-FR" dirty="0" err="1" smtClean="0"/>
              <a:t>Several</a:t>
            </a:r>
            <a:r>
              <a:rPr lang="fr-FR" dirty="0" smtClean="0"/>
              <a:t> </a:t>
            </a:r>
            <a:r>
              <a:rPr lang="fr-FR" dirty="0" smtClean="0"/>
              <a:t>JVM </a:t>
            </a:r>
            <a:r>
              <a:rPr lang="fr-FR" dirty="0" err="1" smtClean="0"/>
              <a:t>languages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RDD = </a:t>
            </a:r>
            <a:r>
              <a:rPr lang="fr-FR" dirty="0" err="1"/>
              <a:t>R</a:t>
            </a:r>
            <a:r>
              <a:rPr lang="fr-FR" dirty="0" err="1" smtClean="0"/>
              <a:t>esilient</a:t>
            </a:r>
            <a:r>
              <a:rPr lang="fr-FR" dirty="0" smtClean="0"/>
              <a:t> </a:t>
            </a:r>
            <a:r>
              <a:rPr lang="fr-FR" dirty="0" err="1" smtClean="0"/>
              <a:t>Distributed</a:t>
            </a:r>
            <a:r>
              <a:rPr lang="fr-FR" dirty="0" smtClean="0"/>
              <a:t> </a:t>
            </a:r>
            <a:r>
              <a:rPr lang="fr-FR" dirty="0" err="1" smtClean="0"/>
              <a:t>Database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Machine </a:t>
            </a:r>
            <a:r>
              <a:rPr lang="fr-FR" dirty="0" err="1" smtClean="0"/>
              <a:t>learning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ML lib</a:t>
            </a:r>
          </a:p>
          <a:p>
            <a:endParaRPr lang="fr-FR" dirty="0"/>
          </a:p>
          <a:p>
            <a:r>
              <a:rPr lang="fr-FR" dirty="0" smtClean="0"/>
              <a:t>La société </a:t>
            </a:r>
            <a:r>
              <a:rPr lang="fr-FR" dirty="0" err="1" smtClean="0"/>
              <a:t>Databriks</a:t>
            </a:r>
            <a:r>
              <a:rPr lang="fr-FR" dirty="0" smtClean="0"/>
              <a:t> derrière</a:t>
            </a:r>
          </a:p>
          <a:p>
            <a:endParaRPr lang="fr-FR" dirty="0" smtClean="0"/>
          </a:p>
          <a:p>
            <a:r>
              <a:rPr lang="fr-FR" dirty="0" err="1" smtClean="0"/>
              <a:t>Jubatus</a:t>
            </a:r>
            <a:r>
              <a:rPr lang="fr-FR" dirty="0" smtClean="0"/>
              <a:t> dans OC ?</a:t>
            </a:r>
          </a:p>
          <a:p>
            <a:endParaRPr lang="fr-FR" dirty="0"/>
          </a:p>
          <a:p>
            <a:r>
              <a:rPr lang="fr-FR" dirty="0" err="1" smtClean="0"/>
              <a:t>Map</a:t>
            </a:r>
            <a:r>
              <a:rPr lang="fr-FR" dirty="0" smtClean="0"/>
              <a:t> </a:t>
            </a:r>
            <a:r>
              <a:rPr lang="fr-FR" dirty="0" err="1" smtClean="0"/>
              <a:t>reduce</a:t>
            </a:r>
            <a:r>
              <a:rPr lang="fr-FR" dirty="0" smtClean="0"/>
              <a:t>, </a:t>
            </a:r>
            <a:r>
              <a:rPr lang="fr-FR" dirty="0" err="1" smtClean="0"/>
              <a:t>reactive</a:t>
            </a:r>
            <a:r>
              <a:rPr lang="fr-FR" dirty="0" smtClean="0"/>
              <a:t> </a:t>
            </a:r>
            <a:r>
              <a:rPr lang="fr-FR" dirty="0" err="1" smtClean="0"/>
              <a:t>streams</a:t>
            </a:r>
            <a:r>
              <a:rPr lang="fr-FR" dirty="0" smtClean="0"/>
              <a:t>,…</a:t>
            </a:r>
          </a:p>
          <a:p>
            <a:endParaRPr lang="fr-FR" dirty="0"/>
          </a:p>
          <a:p>
            <a:r>
              <a:rPr lang="fr-FR" dirty="0"/>
              <a:t>http://zeppelin-project.org/</a:t>
            </a:r>
          </a:p>
          <a:p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718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Cassandra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Massive </a:t>
            </a:r>
            <a:r>
              <a:rPr lang="fr-FR" dirty="0" err="1" smtClean="0"/>
              <a:t>scalable</a:t>
            </a:r>
            <a:r>
              <a:rPr lang="fr-FR" dirty="0" smtClean="0"/>
              <a:t> (</a:t>
            </a:r>
            <a:r>
              <a:rPr lang="fr-FR" dirty="0" err="1" smtClean="0"/>
              <a:t>linearly</a:t>
            </a:r>
            <a:r>
              <a:rPr lang="fr-FR" dirty="0" smtClean="0"/>
              <a:t>)</a:t>
            </a:r>
          </a:p>
          <a:p>
            <a:r>
              <a:rPr lang="fr-FR" dirty="0" smtClean="0"/>
              <a:t>High performance – massive data insertion</a:t>
            </a:r>
          </a:p>
          <a:p>
            <a:r>
              <a:rPr lang="fr-FR" dirty="0" err="1" smtClean="0"/>
              <a:t>Availability</a:t>
            </a:r>
            <a:r>
              <a:rPr lang="fr-FR" dirty="0" smtClean="0"/>
              <a:t> : </a:t>
            </a:r>
            <a:r>
              <a:rPr lang="fr-FR" dirty="0" err="1" smtClean="0"/>
              <a:t>Always</a:t>
            </a:r>
            <a:r>
              <a:rPr lang="fr-FR" dirty="0" smtClean="0"/>
              <a:t> on, </a:t>
            </a:r>
            <a:r>
              <a:rPr lang="fr-FR" dirty="0" err="1" smtClean="0"/>
              <a:t>automatic</a:t>
            </a:r>
            <a:r>
              <a:rPr lang="fr-FR" dirty="0" smtClean="0"/>
              <a:t> </a:t>
            </a:r>
            <a:r>
              <a:rPr lang="fr-FR" dirty="0" err="1" smtClean="0"/>
              <a:t>replication</a:t>
            </a:r>
            <a:r>
              <a:rPr lang="fr-FR" dirty="0" smtClean="0"/>
              <a:t>, multi </a:t>
            </a:r>
            <a:r>
              <a:rPr lang="fr-FR" dirty="0" err="1" smtClean="0"/>
              <a:t>datacenter</a:t>
            </a:r>
            <a:r>
              <a:rPr lang="fr-FR" dirty="0" smtClean="0"/>
              <a:t>,…</a:t>
            </a:r>
          </a:p>
          <a:p>
            <a:r>
              <a:rPr lang="fr-FR" dirty="0" err="1" smtClean="0"/>
              <a:t>Masterless</a:t>
            </a:r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0" y="62116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chemeClr val="bg1">
                    <a:lumMod val="75000"/>
                  </a:schemeClr>
                </a:solidFill>
              </a:rPr>
              <a:t>Cerner intro</a:t>
            </a:r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: https://www.youtube.com/watch?v=B_HTdrTgGNs</a:t>
            </a:r>
          </a:p>
          <a:p>
            <a:r>
              <a:rPr lang="it-IT" dirty="0">
                <a:solidFill>
                  <a:schemeClr val="bg1">
                    <a:lumMod val="75000"/>
                  </a:schemeClr>
                </a:solidFill>
              </a:rPr>
              <a:t>Cassandra tuto : https://</a:t>
            </a:r>
            <a:r>
              <a:rPr lang="it-IT" dirty="0" smtClean="0">
                <a:solidFill>
                  <a:schemeClr val="bg1">
                    <a:lumMod val="75000"/>
                  </a:schemeClr>
                </a:solidFill>
              </a:rPr>
              <a:t>www.youtube.com/watch?v=X4Ty37663WA&amp;list=PLtNErhYMkHnF2LleKggnFhNcF4t37iDCZ</a:t>
            </a:r>
            <a:endParaRPr lang="it-IT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76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Elastic</a:t>
            </a:r>
            <a:r>
              <a:rPr lang="fr-FR" dirty="0" smtClean="0"/>
              <a:t> </a:t>
            </a:r>
            <a:r>
              <a:rPr lang="fr-FR" dirty="0" err="1" smtClean="0"/>
              <a:t>Search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Plugin </a:t>
            </a:r>
            <a:r>
              <a:rPr lang="fr-FR" dirty="0" err="1" smtClean="0"/>
              <a:t>Kibana</a:t>
            </a:r>
            <a:r>
              <a:rPr lang="fr-FR" dirty="0" smtClean="0"/>
              <a:t> pour </a:t>
            </a:r>
            <a:r>
              <a:rPr lang="fr-FR" dirty="0" err="1" smtClean="0"/>
              <a:t>elastic</a:t>
            </a:r>
            <a:r>
              <a:rPr lang="fr-FR" dirty="0" smtClean="0"/>
              <a:t> </a:t>
            </a:r>
            <a:r>
              <a:rPr lang="fr-FR" dirty="0" err="1" smtClean="0"/>
              <a:t>search</a:t>
            </a:r>
            <a:endParaRPr lang="fr-FR" dirty="0" smtClean="0"/>
          </a:p>
          <a:p>
            <a:endParaRPr lang="fr-FR" dirty="0"/>
          </a:p>
          <a:p>
            <a:r>
              <a:rPr lang="fr-FR" dirty="0" err="1" smtClean="0"/>
              <a:t>Elastic</a:t>
            </a:r>
            <a:r>
              <a:rPr lang="fr-FR" dirty="0" smtClean="0"/>
              <a:t> </a:t>
            </a:r>
            <a:r>
              <a:rPr lang="fr-FR" dirty="0" err="1" smtClean="0"/>
              <a:t>search</a:t>
            </a:r>
            <a:r>
              <a:rPr lang="fr-FR" dirty="0" smtClean="0"/>
              <a:t> vs </a:t>
            </a:r>
            <a:r>
              <a:rPr lang="fr-FR" dirty="0" err="1" smtClean="0"/>
              <a:t>cassandra</a:t>
            </a:r>
            <a:r>
              <a:rPr lang="fr-FR" dirty="0" smtClean="0"/>
              <a:t> ???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779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Apache </a:t>
            </a:r>
            <a:r>
              <a:rPr lang="fr-FR" dirty="0" err="1" smtClean="0"/>
              <a:t>Mesos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err="1" smtClean="0"/>
              <a:t>Mesosphere</a:t>
            </a:r>
            <a:r>
              <a:rPr lang="fr-FR" dirty="0" smtClean="0"/>
              <a:t> </a:t>
            </a:r>
            <a:r>
              <a:rPr lang="fr-FR" dirty="0" err="1" smtClean="0"/>
              <a:t>aggregates</a:t>
            </a:r>
            <a:r>
              <a:rPr lang="fr-FR" dirty="0" smtClean="0"/>
              <a:t> </a:t>
            </a:r>
            <a:r>
              <a:rPr lang="fr-FR" dirty="0" err="1" smtClean="0"/>
              <a:t>resources</a:t>
            </a:r>
            <a:r>
              <a:rPr lang="fr-FR" dirty="0" smtClean="0"/>
              <a:t>, </a:t>
            </a:r>
            <a:r>
              <a:rPr lang="fr-FR" dirty="0" err="1" smtClean="0"/>
              <a:t>makes</a:t>
            </a:r>
            <a:r>
              <a:rPr lang="fr-FR" dirty="0" smtClean="0"/>
              <a:t> data center look </a:t>
            </a:r>
            <a:r>
              <a:rPr lang="fr-FR" dirty="0" err="1" smtClean="0"/>
              <a:t>like</a:t>
            </a:r>
            <a:r>
              <a:rPr lang="fr-FR" dirty="0" smtClean="0"/>
              <a:t> one </a:t>
            </a:r>
            <a:r>
              <a:rPr lang="fr-FR" dirty="0" err="1" smtClean="0"/>
              <a:t>big</a:t>
            </a:r>
            <a:r>
              <a:rPr lang="fr-FR" dirty="0" smtClean="0"/>
              <a:t> computer. </a:t>
            </a:r>
            <a:r>
              <a:rPr lang="fr-FR" dirty="0" err="1" smtClean="0"/>
              <a:t>Mesosphere</a:t>
            </a:r>
            <a:r>
              <a:rPr lang="fr-FR" dirty="0" smtClean="0"/>
              <a:t> </a:t>
            </a:r>
            <a:r>
              <a:rPr lang="fr-FR" dirty="0" err="1" smtClean="0"/>
              <a:t>run</a:t>
            </a:r>
            <a:r>
              <a:rPr lang="fr-FR" dirty="0" smtClean="0"/>
              <a:t> on top of a VM, or on </a:t>
            </a:r>
            <a:r>
              <a:rPr lang="fr-FR" dirty="0" err="1" smtClean="0"/>
              <a:t>bare</a:t>
            </a:r>
            <a:r>
              <a:rPr lang="fr-FR" dirty="0" smtClean="0"/>
              <a:t> </a:t>
            </a:r>
            <a:r>
              <a:rPr lang="fr-FR" dirty="0" err="1" smtClean="0"/>
              <a:t>metal</a:t>
            </a:r>
            <a:endParaRPr lang="fr-FR" dirty="0" smtClean="0"/>
          </a:p>
          <a:p>
            <a:r>
              <a:rPr lang="fr-FR" dirty="0" smtClean="0"/>
              <a:t> 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 smtClean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48216"/>
            <a:ext cx="4866752" cy="166893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25"/>
          <a:stretch/>
        </p:blipFill>
        <p:spPr>
          <a:xfrm>
            <a:off x="7021619" y="3569193"/>
            <a:ext cx="4332181" cy="1847957"/>
          </a:xfrm>
          <a:prstGeom prst="rect">
            <a:avLst/>
          </a:prstGeom>
        </p:spPr>
      </p:pic>
      <p:sp>
        <p:nvSpPr>
          <p:cNvPr id="6" name="Flèche droite 5"/>
          <p:cNvSpPr/>
          <p:nvPr/>
        </p:nvSpPr>
        <p:spPr>
          <a:xfrm>
            <a:off x="5906085" y="4383752"/>
            <a:ext cx="914400" cy="3978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8048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Vocabulary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Scheduler</a:t>
            </a:r>
            <a:r>
              <a:rPr lang="fr-FR" dirty="0" smtClean="0"/>
              <a:t> : </a:t>
            </a:r>
          </a:p>
          <a:p>
            <a:r>
              <a:rPr lang="fr-FR" dirty="0" smtClean="0"/>
              <a:t>Framework : a </a:t>
            </a:r>
            <a:r>
              <a:rPr lang="fr-FR" dirty="0" err="1" smtClean="0"/>
              <a:t>distributed</a:t>
            </a:r>
            <a:r>
              <a:rPr lang="fr-FR" dirty="0" smtClean="0"/>
              <a:t> system </a:t>
            </a:r>
            <a:r>
              <a:rPr lang="fr-FR" dirty="0" err="1" smtClean="0"/>
              <a:t>which</a:t>
            </a:r>
            <a:r>
              <a:rPr lang="fr-FR" dirty="0" smtClean="0"/>
              <a:t> has a </a:t>
            </a:r>
            <a:r>
              <a:rPr lang="fr-FR" dirty="0" err="1" smtClean="0"/>
              <a:t>scheduler</a:t>
            </a:r>
            <a:endParaRPr lang="fr-FR" dirty="0" smtClean="0"/>
          </a:p>
          <a:p>
            <a:r>
              <a:rPr lang="fr-FR" dirty="0" smtClean="0"/>
              <a:t>A </a:t>
            </a:r>
            <a:r>
              <a:rPr lang="fr-FR" dirty="0" err="1" smtClean="0"/>
              <a:t>mesos</a:t>
            </a:r>
            <a:r>
              <a:rPr lang="fr-FR" dirty="0" smtClean="0"/>
              <a:t> </a:t>
            </a:r>
            <a:r>
              <a:rPr lang="fr-FR" dirty="0" err="1" smtClean="0"/>
              <a:t>framework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an </a:t>
            </a:r>
            <a:r>
              <a:rPr lang="fr-FR" dirty="0" err="1" smtClean="0"/>
              <a:t>app</a:t>
            </a:r>
            <a:r>
              <a:rPr lang="fr-FR" dirty="0" smtClean="0"/>
              <a:t> for the cluster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0104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Misc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smtClean="0">
                <a:hlinkClick r:id="rId2"/>
              </a:rPr>
              <a:t>Big data pattern : https</a:t>
            </a:r>
            <a:r>
              <a:rPr lang="sv-SE" dirty="0">
                <a:hlinkClick r:id="rId2"/>
              </a:rPr>
              <a:t>://www.youtube.com/watch?v=WdEkQm2EDKg</a:t>
            </a:r>
            <a:endParaRPr lang="sv-SE" dirty="0" smtClean="0">
              <a:hlinkClick r:id="rId2"/>
            </a:endParaRPr>
          </a:p>
          <a:p>
            <a:endParaRPr lang="sv-SE" dirty="0" smtClean="0">
              <a:hlinkClick r:id="rId2"/>
            </a:endParaRPr>
          </a:p>
          <a:p>
            <a:r>
              <a:rPr lang="sv-SE" dirty="0" smtClean="0">
                <a:hlinkClick r:id="rId2"/>
              </a:rPr>
              <a:t>https</a:t>
            </a:r>
            <a:r>
              <a:rPr lang="sv-SE" dirty="0">
                <a:hlinkClick r:id="rId2"/>
              </a:rPr>
              <a:t>://github.com/datastax/spark-cassandra-connector</a:t>
            </a:r>
            <a:r>
              <a:rPr lang="sv-SE" dirty="0" smtClean="0">
                <a:hlinkClick r:id="rId2"/>
              </a:rPr>
              <a:t>/</a:t>
            </a:r>
            <a:endParaRPr lang="sv-SE" dirty="0" smtClean="0"/>
          </a:p>
          <a:p>
            <a:endParaRPr lang="sv-SE" dirty="0" smtClean="0"/>
          </a:p>
          <a:p>
            <a:r>
              <a:rPr lang="sv-SE" dirty="0" smtClean="0"/>
              <a:t>Cerner : </a:t>
            </a:r>
            <a:r>
              <a:rPr lang="sv-SE" dirty="0" smtClean="0">
                <a:hlinkClick r:id="rId3"/>
              </a:rPr>
              <a:t>https</a:t>
            </a:r>
            <a:r>
              <a:rPr lang="sv-SE" dirty="0">
                <a:hlinkClick r:id="rId3"/>
              </a:rPr>
              <a:t>://</a:t>
            </a:r>
            <a:r>
              <a:rPr lang="sv-SE" dirty="0" smtClean="0">
                <a:hlinkClick r:id="rId3"/>
              </a:rPr>
              <a:t>www.youtube.com/watch?v=WdEkQm2EDKg</a:t>
            </a:r>
            <a:endParaRPr lang="sv-SE" dirty="0" smtClean="0"/>
          </a:p>
          <a:p>
            <a:endParaRPr lang="sv-SE" dirty="0" smtClean="0">
              <a:hlinkClick r:id="rId4"/>
            </a:endParaRPr>
          </a:p>
          <a:p>
            <a:r>
              <a:rPr lang="sv-SE" dirty="0" smtClean="0">
                <a:hlinkClick r:id="rId4"/>
              </a:rPr>
              <a:t>https</a:t>
            </a:r>
            <a:r>
              <a:rPr lang="sv-SE" dirty="0">
                <a:hlinkClick r:id="rId4"/>
              </a:rPr>
              <a:t>://</a:t>
            </a:r>
            <a:r>
              <a:rPr lang="sv-SE" dirty="0" smtClean="0">
                <a:hlinkClick r:id="rId4"/>
              </a:rPr>
              <a:t>tobert.github.io/post/2014-07-15-installing-cassandra-spark-stack.html</a:t>
            </a:r>
            <a:endParaRPr lang="sv-SE" dirty="0" smtClean="0"/>
          </a:p>
        </p:txBody>
      </p:sp>
    </p:spTree>
    <p:extLst>
      <p:ext uri="{BB962C8B-B14F-4D97-AF65-F5344CB8AC3E}">
        <p14:creationId xmlns:p14="http://schemas.microsoft.com/office/powerpoint/2010/main" val="247599861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</TotalTime>
  <Words>790</Words>
  <Application>Microsoft Office PowerPoint</Application>
  <PresentationFormat>Grand écran</PresentationFormat>
  <Paragraphs>249</Paragraphs>
  <Slides>27</Slides>
  <Notes>0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Thème Office</vt:lpstr>
      <vt:lpstr>Big Data and Machine Learning in 2016</vt:lpstr>
      <vt:lpstr>Big Data / Open Data / Machine Learning</vt:lpstr>
      <vt:lpstr>Agenda</vt:lpstr>
      <vt:lpstr>Trend 1</vt:lpstr>
      <vt:lpstr>Big Data, slow response time</vt:lpstr>
      <vt:lpstr>What we need…</vt:lpstr>
      <vt:lpstr>Lambda architecture by Nathan Marz</vt:lpstr>
      <vt:lpstr>Trend 2</vt:lpstr>
      <vt:lpstr>Reactive (cf reactive manifesto)</vt:lpstr>
      <vt:lpstr>Trend 3</vt:lpstr>
      <vt:lpstr>Motivation for building a data pipeline</vt:lpstr>
      <vt:lpstr>Reactive Streams</vt:lpstr>
      <vt:lpstr>Traitement des streams</vt:lpstr>
      <vt:lpstr>Architecture &amp; technologies </vt:lpstr>
      <vt:lpstr>SMACK architecture</vt:lpstr>
      <vt:lpstr>SMACK architecture</vt:lpstr>
      <vt:lpstr>Architecture &amp; technologies </vt:lpstr>
      <vt:lpstr>Présentation PowerPoint</vt:lpstr>
      <vt:lpstr>Présentation PowerPoint</vt:lpstr>
      <vt:lpstr>Messaging / Queuing</vt:lpstr>
      <vt:lpstr>Traitement massif de messages  (ex: prétraitement / workers)</vt:lpstr>
      <vt:lpstr>Apache Spark</vt:lpstr>
      <vt:lpstr>Cassandra</vt:lpstr>
      <vt:lpstr>Elastic Search</vt:lpstr>
      <vt:lpstr>Apache Mesos</vt:lpstr>
      <vt:lpstr>Vocabulary</vt:lpstr>
      <vt:lpstr>Misc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architecture</dc:title>
  <dc:creator>GANDRILLE Etienne 244698</dc:creator>
  <cp:lastModifiedBy>GANDRILLE Etienne 244698</cp:lastModifiedBy>
  <cp:revision>81</cp:revision>
  <dcterms:created xsi:type="dcterms:W3CDTF">2016-05-02T08:18:53Z</dcterms:created>
  <dcterms:modified xsi:type="dcterms:W3CDTF">2016-05-04T16:36:47Z</dcterms:modified>
</cp:coreProperties>
</file>